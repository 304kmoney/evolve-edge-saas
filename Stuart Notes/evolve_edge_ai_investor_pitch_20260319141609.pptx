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-1429207" y="-1429207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7429500" y="3047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9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>
            <a:alphaModFix amt="18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81305" y="381305"/>
            <a:ext cx="1429207" cy="9144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381305" y="381305"/>
            <a:ext cx="9144" cy="1429207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0382098" y="6467551"/>
            <a:ext cx="1429207" cy="9144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11802161" y="5048402"/>
            <a:ext cx="9144" cy="1429207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381305" y="381305"/>
            <a:ext cx="57607" cy="57607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2563eb">
                <a:alpha val="10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11753698" y="381305"/>
            <a:ext cx="57607" cy="57607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2563eb">
                <a:alpha val="100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381305" y="6420002"/>
            <a:ext cx="57607" cy="57607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2563eb">
                <a:alpha val="10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11753698" y="6420002"/>
            <a:ext cx="57607" cy="57607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2563eb">
                <a:alpha val="10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20" r="-20" t="0" b="0"/>
          <a:stretch/>
        </p:blipFill>
        <p:spPr>
          <a:xfrm>
            <a:off x="4608576" y="1422806"/>
            <a:ext cx="2975458" cy="647395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03013" y="1594714"/>
            <a:ext cx="304495" cy="30449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351069" y="1422806"/>
            <a:ext cx="202082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EVOLVE EDGE AI</a:t>
            </a:r>
            <a:endParaRPr lang="en-US" sz="1800" dirty="0"/>
          </a:p>
        </p:txBody>
      </p:sp>
      <p:sp>
        <p:nvSpPr>
          <p:cNvPr id="18" name="Text 10"/>
          <p:cNvSpPr txBox="1"/>
          <p:nvPr/>
        </p:nvSpPr>
        <p:spPr>
          <a:xfrm>
            <a:off x="2636215" y="3462833"/>
            <a:ext cx="6924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AI-Powered Compliance Automation Platform</a:t>
            </a:r>
            <a:endParaRPr lang="en-US" sz="2100" dirty="0"/>
          </a:p>
        </p:txBody>
      </p:sp>
      <p:sp>
        <p:nvSpPr>
          <p:cNvPr id="19" name="Shape 11"/>
          <p:cNvSpPr/>
          <p:nvPr/>
        </p:nvSpPr>
        <p:spPr>
          <a:xfrm>
            <a:off x="2749601" y="4320540"/>
            <a:ext cx="6696151" cy="504749"/>
          </a:xfrm>
          <a:prstGeom prst="roundRect">
            <a:avLst>
              <a:gd name="adj" fmla="val 18115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3290926" y="4443984"/>
            <a:ext cx="66037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8" kern="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Transforming Compliance from Costly Obligation to Strategic Advantage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-2660" r="-2660" t="0" b="0"/>
          <a:stretch/>
        </p:blipFill>
        <p:spPr>
          <a:xfrm>
            <a:off x="2988259" y="4475074"/>
            <a:ext cx="181051" cy="17190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738628" y="2375611"/>
            <a:ext cx="6722669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0" b="1" spc="-150" kern="0" dirty="0">
                <a:solidFill>
                  <a:srgbClr val="E5EA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EVOLVE EDGE AI</a:t>
            </a:r>
            <a:endParaRPr lang="en-US" sz="6100" dirty="0"/>
          </a:p>
        </p:txBody>
      </p:sp>
      <p:sp>
        <p:nvSpPr>
          <p:cNvPr id="23" name="Shape 14"/>
          <p:cNvSpPr/>
          <p:nvPr/>
        </p:nvSpPr>
        <p:spPr>
          <a:xfrm>
            <a:off x="6096305" y="3339389"/>
            <a:ext cx="1143000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0" dist="12700" dir="16200000">
              <a:srgbClr val="2563eb">
                <a:alpha val="100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857707" y="5495544"/>
            <a:ext cx="10477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857707" y="5810098"/>
            <a:ext cx="476402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-1648" r="-1648" t="0" b="0"/>
          <a:stretch/>
        </p:blipFill>
        <p:spPr>
          <a:xfrm>
            <a:off x="1009498" y="5952744"/>
            <a:ext cx="171907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476756" y="5834786"/>
            <a:ext cx="10771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Kiel Green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1476756" y="6075274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9937699" y="5919826"/>
            <a:ext cx="15535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evolveedgeai.com</a:t>
            </a:r>
            <a:endParaRPr lang="en-US" sz="13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725558" y="5950915"/>
            <a:ext cx="171907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382098" y="381305"/>
            <a:ext cx="1429207" cy="9144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02161" y="381305"/>
            <a:ext cx="9144" cy="1429207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305" y="3047695"/>
            <a:ext cx="4762195" cy="47621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6355080"/>
            <a:ext cx="11048695" cy="771754"/>
          </a:xfrm>
          <a:prstGeom prst="roundRect">
            <a:avLst>
              <a:gd name="adj" fmla="val 35106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53058" y="6612026"/>
            <a:ext cx="47813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High-impact bottlenecks for regulated growth sectors: 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851" y="6655003"/>
            <a:ext cx="171907" cy="17190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74636" y="6555334"/>
            <a:ext cx="961949" cy="371246"/>
          </a:xfrm>
          <a:prstGeom prst="roundRect">
            <a:avLst>
              <a:gd name="adj" fmla="val 7578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45882" y="6555334"/>
            <a:ext cx="6483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Fintech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8472830" y="6555334"/>
            <a:ext cx="1181405" cy="371246"/>
          </a:xfrm>
          <a:prstGeom prst="roundRect">
            <a:avLst>
              <a:gd name="adj" fmla="val 7578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844077" y="6555334"/>
            <a:ext cx="86776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Healthtech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9795967" y="6555334"/>
            <a:ext cx="1533449" cy="371246"/>
          </a:xfrm>
          <a:prstGeom prst="roundRect">
            <a:avLst>
              <a:gd name="adj" fmla="val 7578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205618" y="6555334"/>
            <a:ext cx="118597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Enterprise SaaS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36485" y="6666890"/>
            <a:ext cx="133502" cy="133502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35594" y="6666890"/>
            <a:ext cx="133502" cy="13350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9957816" y="6666890"/>
            <a:ext cx="171907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71500" y="381305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9CA3A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571500" y="647395"/>
            <a:ext cx="10154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Compliance Tax Is Killing Growth</a:t>
            </a:r>
            <a:endParaRPr lang="en-US" sz="3600" dirty="0"/>
          </a:p>
        </p:txBody>
      </p:sp>
      <p:sp>
        <p:nvSpPr>
          <p:cNvPr id="21" name="Shape 13"/>
          <p:cNvSpPr/>
          <p:nvPr/>
        </p:nvSpPr>
        <p:spPr>
          <a:xfrm>
            <a:off x="571500" y="1438351"/>
            <a:ext cx="761695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ef4444">
                <a:alpha val="50000"/>
              </a:srgbClr>
            </a:outerShdw>
          </a:effectLst>
        </p:spPr>
      </p:sp>
      <p:sp>
        <p:nvSpPr>
          <p:cNvPr id="22" name="Text 14"/>
          <p:cNvSpPr txBox="1"/>
          <p:nvPr/>
        </p:nvSpPr>
        <p:spPr>
          <a:xfrm>
            <a:off x="571500" y="1619402"/>
            <a:ext cx="7696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For fast-moving organizations, traditional compliance is a manual, expensive bottleneck that delays revenue.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571500" y="2667305"/>
            <a:ext cx="3495751" cy="3314700"/>
          </a:xfrm>
          <a:prstGeom prst="roundRect">
            <a:avLst>
              <a:gd name="adj" fmla="val 253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71500" y="2667305"/>
            <a:ext cx="3473806" cy="57607"/>
          </a:xfrm>
          <a:prstGeom prst="roundRect">
            <a:avLst>
              <a:gd name="adj" fmla="val 1587307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0" dist="12700" dir="16200000">
              <a:srgbClr val="ef4444">
                <a:alpha val="4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866851" y="29626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685" r="-685" t="0" b="0"/>
          <a:stretch/>
        </p:blipFill>
        <p:spPr>
          <a:xfrm>
            <a:off x="1000354" y="3114446"/>
            <a:ext cx="304495" cy="2670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66851" y="3771900"/>
            <a:ext cx="30961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$150K–$500K</a:t>
            </a:r>
            <a:endParaRPr lang="en-US" sz="3100" dirty="0"/>
          </a:p>
        </p:txBody>
      </p:sp>
      <p:sp>
        <p:nvSpPr>
          <p:cNvPr id="28" name="Text 19"/>
          <p:cNvSpPr txBox="1"/>
          <p:nvPr/>
        </p:nvSpPr>
        <p:spPr>
          <a:xfrm>
            <a:off x="866851" y="4306824"/>
            <a:ext cx="30202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Annual Consultant Fees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866851" y="4764024"/>
            <a:ext cx="2981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Companies are forced to hire expensive external consultants for manual audit preparation, creating a massive recurring "compliance tax" on the bottom line.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4349801" y="2667305"/>
            <a:ext cx="3495751" cy="3314700"/>
          </a:xfrm>
          <a:prstGeom prst="roundRect">
            <a:avLst>
              <a:gd name="adj" fmla="val 253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4349801" y="2667305"/>
            <a:ext cx="3473806" cy="57607"/>
          </a:xfrm>
          <a:prstGeom prst="roundRect">
            <a:avLst>
              <a:gd name="adj" fmla="val 1587307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0" dist="12700" dir="16200000">
              <a:srgbClr val="f59e0b">
                <a:alpha val="4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645152" y="29626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830775" y="3114446"/>
            <a:ext cx="200254" cy="2670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645152" y="3771900"/>
            <a:ext cx="30961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6–12 Months</a:t>
            </a:r>
            <a:endParaRPr lang="en-US" sz="3100" dirty="0"/>
          </a:p>
        </p:txBody>
      </p:sp>
      <p:sp>
        <p:nvSpPr>
          <p:cNvPr id="35" name="Text 25"/>
          <p:cNvSpPr txBox="1"/>
          <p:nvPr/>
        </p:nvSpPr>
        <p:spPr>
          <a:xfrm>
            <a:off x="4645152" y="4306824"/>
            <a:ext cx="30202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Audit Prep Delays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4645152" y="4764024"/>
            <a:ext cx="2981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Lengthy preparation cycles stall critical product launches, funding rounds, and enterprise deals while teams scramble to organize documentation.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128102" y="2667305"/>
            <a:ext cx="3495751" cy="3314700"/>
          </a:xfrm>
          <a:prstGeom prst="roundRect">
            <a:avLst>
              <a:gd name="adj" fmla="val 253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8128102" y="2667305"/>
            <a:ext cx="3473806" cy="57607"/>
          </a:xfrm>
          <a:prstGeom prst="roundRect">
            <a:avLst>
              <a:gd name="adj" fmla="val 1587307"/>
            </a:avLst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0" dist="12700" dir="16200000">
              <a:srgbClr val="ec4899">
                <a:alpha val="40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8423453" y="29626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542325" y="3114446"/>
            <a:ext cx="333756" cy="26700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423453" y="3771900"/>
            <a:ext cx="30961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50%+</a:t>
            </a:r>
            <a:endParaRPr lang="en-US" sz="3100" dirty="0"/>
          </a:p>
        </p:txBody>
      </p:sp>
      <p:sp>
        <p:nvSpPr>
          <p:cNvPr id="42" name="Text 31"/>
          <p:cNvSpPr txBox="1"/>
          <p:nvPr/>
        </p:nvSpPr>
        <p:spPr>
          <a:xfrm>
            <a:off x="8423453" y="4306824"/>
            <a:ext cx="30202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Team Capacity Wasted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8423453" y="4764024"/>
            <a:ext cx="2981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Engineering and compliance teams lose over half their productivity to manual evidence collection, screenshots, and "document chasing" instead of building.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noFill/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90695" y="1524305"/>
            <a:ext cx="3810305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6019495"/>
            <a:ext cx="11048695" cy="914400"/>
          </a:xfrm>
          <a:prstGeom prst="roundRect">
            <a:avLst>
              <a:gd name="adj" fmla="val 2500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1949" y="6324905"/>
            <a:ext cx="304495" cy="3044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0005" y="6219749"/>
            <a:ext cx="1619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85%+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1410005" y="6534302"/>
            <a:ext cx="1619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8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Workload Reduction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07" r="-107" t="0" b="0"/>
          <a:stretch/>
        </p:blipFill>
        <p:spPr>
          <a:xfrm>
            <a:off x="4749394" y="6324905"/>
            <a:ext cx="267005" cy="304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59045" y="6219749"/>
            <a:ext cx="22311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Months → Days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5159045" y="6534302"/>
            <a:ext cx="2100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8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Audit Prep Timeline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50" r="-50" t="0" b="0"/>
          <a:stretch/>
        </p:blipFill>
        <p:spPr>
          <a:xfrm>
            <a:off x="8982151" y="6324905"/>
            <a:ext cx="342900" cy="3044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467698" y="6219749"/>
            <a:ext cx="18900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$150K–$500K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9467698" y="6534302"/>
            <a:ext cx="1838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8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657454"/>
            <a:ext cx="10754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Evolve Edge AI: Compliance on Autopilot</a:t>
            </a:r>
            <a:endParaRPr lang="en-US" sz="3600" dirty="0"/>
          </a:p>
        </p:txBody>
      </p:sp>
      <p:sp>
        <p:nvSpPr>
          <p:cNvPr id="18" name="Shape 12"/>
          <p:cNvSpPr/>
          <p:nvPr/>
        </p:nvSpPr>
        <p:spPr>
          <a:xfrm>
            <a:off x="571500" y="1399946"/>
            <a:ext cx="952805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10b981">
                <a:alpha val="5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71500" y="1628546"/>
            <a:ext cx="5410505" cy="1933956"/>
          </a:xfrm>
          <a:prstGeom prst="roundRect">
            <a:avLst>
              <a:gd name="adj" fmla="val 5590"/>
            </a:avLst>
          </a:prstGeom>
          <a:solidFill>
            <a:srgbClr val="10192D">
              <a:alpha val="7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71500" y="1628546"/>
            <a:ext cx="38405" cy="191475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" y="18763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8174" y="2029054"/>
            <a:ext cx="333756" cy="2670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80998" y="1876349"/>
            <a:ext cx="42675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AI-Powered Evidence Collection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580998" y="2286000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Automatically gathers evidence across cloud (AWS, GCP) and enterprise systems (GitHub, Slack), eliminating manual "document chasing."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580998" y="3066898"/>
            <a:ext cx="1619402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580998" y="3066898"/>
            <a:ext cx="168432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Connects to 50+ Integrations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215177" y="1628546"/>
            <a:ext cx="5410505" cy="1933956"/>
          </a:xfrm>
          <a:prstGeom prst="roundRect">
            <a:avLst>
              <a:gd name="adj" fmla="val 5590"/>
            </a:avLst>
          </a:prstGeom>
          <a:solidFill>
            <a:srgbClr val="10192D">
              <a:alpha val="7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215177" y="1628546"/>
            <a:ext cx="38405" cy="191475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62979" y="18763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14770" y="2029054"/>
            <a:ext cx="267005" cy="2670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4674" y="1876349"/>
            <a:ext cx="42675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Proactive Auto-Remediation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224674" y="2286000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Goes beyond detection to actively fix compliance gaps. The system auto-patches controls and enforces security policies without human intervention.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7224674" y="3066898"/>
            <a:ext cx="1619402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224674" y="3066898"/>
            <a:ext cx="168432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Unique Market Differentiator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571500" y="3800246"/>
            <a:ext cx="5410505" cy="1933956"/>
          </a:xfrm>
          <a:prstGeom prst="roundRect">
            <a:avLst>
              <a:gd name="adj" fmla="val 5590"/>
            </a:avLst>
          </a:prstGeom>
          <a:solidFill>
            <a:srgbClr val="10192D">
              <a:alpha val="7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71500" y="3800246"/>
            <a:ext cx="38405" cy="191475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19302" y="40480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72007" y="4200754"/>
            <a:ext cx="267005" cy="2670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580998" y="4048049"/>
            <a:ext cx="42675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Compliance Dashboard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580998" y="4457700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Continuous monitoring replaces periodic manual checks. visualize status across frameworks instantly with live risk detection.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1580998" y="5238598"/>
            <a:ext cx="1190549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1580998" y="5238598"/>
            <a:ext cx="12481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Single Pane of Glass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6215177" y="3800246"/>
            <a:ext cx="5410505" cy="1933956"/>
          </a:xfrm>
          <a:prstGeom prst="roundRect">
            <a:avLst>
              <a:gd name="adj" fmla="val 5590"/>
            </a:avLst>
          </a:prstGeom>
          <a:solidFill>
            <a:srgbClr val="10192D">
              <a:alpha val="7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215177" y="3800246"/>
            <a:ext cx="38405" cy="191475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462979" y="40480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648602" y="4200754"/>
            <a:ext cx="200254" cy="2670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224674" y="4048049"/>
            <a:ext cx="42675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Audit Readiness Score</a:t>
            </a:r>
            <a:endParaRPr lang="en-US" sz="1600" dirty="0"/>
          </a:p>
        </p:txBody>
      </p:sp>
      <p:sp>
        <p:nvSpPr>
          <p:cNvPr id="48" name="Text 38"/>
          <p:cNvSpPr txBox="1"/>
          <p:nvPr/>
        </p:nvSpPr>
        <p:spPr>
          <a:xfrm>
            <a:off x="7224674" y="4457700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Predictive analytics determine audit pass probability. The AI Auditor Copilot prepares reports and answers regulatory questions instantly.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7224674" y="5238598"/>
            <a:ext cx="122895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7224674" y="5238598"/>
            <a:ext cx="12865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Instant Audit Reports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382098" y="6467551"/>
            <a:ext cx="1429207" cy="9144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02161" y="5048402"/>
            <a:ext cx="9144" cy="1429207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391095" y="1207008"/>
            <a:ext cx="4343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8" kern="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Target Segments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91095" y="1740103"/>
            <a:ext cx="4229100" cy="1114654"/>
          </a:xfrm>
          <a:prstGeom prst="roundRect">
            <a:avLst>
              <a:gd name="adj" fmla="val 168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91349" y="200802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3256" y="2179015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353044" y="1940357"/>
            <a:ext cx="3182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Fintech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353044" y="2274113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Banks, payment processors, and lending platforms facing strict PCI DSS &amp; SOC 2 requirements.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91095" y="3037637"/>
            <a:ext cx="4229100" cy="1114654"/>
          </a:xfrm>
          <a:prstGeom prst="roundRect">
            <a:avLst>
              <a:gd name="adj" fmla="val 168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91349" y="33055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63256" y="3476549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53044" y="3237890"/>
            <a:ext cx="3182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Healthtech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53044" y="3570732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Digital health providers and systems managing PHI requiring HIPAA compliance and data security.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91095" y="4335170"/>
            <a:ext cx="4229100" cy="1114654"/>
          </a:xfrm>
          <a:prstGeom prst="roundRect">
            <a:avLst>
              <a:gd name="adj" fmla="val 168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91349" y="4602175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7733995" y="4774082"/>
            <a:ext cx="286207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53044" y="4534510"/>
            <a:ext cx="3182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 SaaS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53044" y="4868266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B2B software vendors needing SOC 2 &amp; ISO 27001 to close enterprise contracts and funding.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391095" y="5822899"/>
            <a:ext cx="4229100" cy="1181405"/>
          </a:xfrm>
          <a:prstGeom prst="roundRect">
            <a:avLst>
              <a:gd name="adj" fmla="val 1498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91349" y="6013094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39151" y="5974690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Key Growth Driver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591349" y="6250838"/>
            <a:ext cx="39054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Organizations typically expand from 1 to 3+ frameworks within 24 months, creating built-in expansion revenue and high NRR potential.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657454"/>
            <a:ext cx="9261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$2.9B Market Expanding Rapidly</a:t>
            </a:r>
            <a:endParaRPr lang="en-US" sz="3600" dirty="0"/>
          </a:p>
        </p:txBody>
      </p:sp>
      <p:sp>
        <p:nvSpPr>
          <p:cNvPr id="28" name="Shape 21"/>
          <p:cNvSpPr/>
          <p:nvPr/>
        </p:nvSpPr>
        <p:spPr>
          <a:xfrm>
            <a:off x="571500" y="1399946"/>
            <a:ext cx="952805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71500" y="2176272"/>
            <a:ext cx="6344107" cy="1333195"/>
          </a:xfrm>
          <a:prstGeom prst="roundRect">
            <a:avLst>
              <a:gd name="adj" fmla="val 11758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46988" y="3653028"/>
            <a:ext cx="5400446" cy="1143000"/>
          </a:xfrm>
          <a:prstGeom prst="roundRect">
            <a:avLst>
              <a:gd name="adj" fmla="val 16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523390" y="4938674"/>
            <a:ext cx="4448556" cy="952805"/>
          </a:xfrm>
          <a:prstGeom prst="roundRect">
            <a:avLst>
              <a:gd name="adj" fmla="val 230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rcRect l="-394" r="-394" t="0" b="0"/>
          <a:stretch/>
        </p:blipFill>
        <p:spPr>
          <a:xfrm>
            <a:off x="3733495" y="2962656"/>
            <a:ext cx="19202" cy="266730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866851" y="2824582"/>
            <a:ext cx="57534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66851" y="2404872"/>
            <a:ext cx="543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TAM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4973422" y="2318918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$1.3B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$2.9B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866851" y="3185770"/>
            <a:ext cx="18370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Projected Growth (2026-2030)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2496312" y="3157423"/>
            <a:ext cx="828446" cy="209398"/>
          </a:xfrm>
          <a:prstGeom prst="roundRect">
            <a:avLst>
              <a:gd name="adj" fmla="val 15879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2696566" y="3157423"/>
            <a:ext cx="7050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CAGR 22%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5852160" y="2462479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$2.9B</a:t>
            </a:r>
            <a:endParaRPr lang="en-US" sz="15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2572207" y="3200400"/>
            <a:ext cx="85954" cy="1143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66851" y="2881274"/>
            <a:ext cx="5867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Total Addressable Market (Global Compliance Automation)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1342339" y="4253789"/>
            <a:ext cx="48097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1342339" y="3834079"/>
            <a:ext cx="562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</a:t>
            </a:r>
            <a:endParaRPr lang="en-US" sz="1800" dirty="0"/>
          </a:p>
        </p:txBody>
      </p:sp>
      <p:sp>
        <p:nvSpPr>
          <p:cNvPr id="44" name="Text 35"/>
          <p:cNvSpPr txBox="1"/>
          <p:nvPr/>
        </p:nvSpPr>
        <p:spPr>
          <a:xfrm>
            <a:off x="5125212" y="3748126"/>
            <a:ext cx="1095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$456M</a:t>
            </a:r>
            <a:endParaRPr lang="en-US" sz="2400" dirty="0"/>
          </a:p>
        </p:txBody>
      </p:sp>
      <p:sp>
        <p:nvSpPr>
          <p:cNvPr id="45" name="Text 36"/>
          <p:cNvSpPr txBox="1"/>
          <p:nvPr/>
        </p:nvSpPr>
        <p:spPr>
          <a:xfrm>
            <a:off x="1342339" y="4548226"/>
            <a:ext cx="4924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Beachhead: Financial, Healthcare &amp; Enterprise Software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342339" y="4310482"/>
            <a:ext cx="4924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Serviceable Available Market (U.S. Regulated Orgs)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1817827" y="5444338"/>
            <a:ext cx="38578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1817827" y="5024628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</a:t>
            </a:r>
            <a:endParaRPr lang="en-US" sz="1800" dirty="0"/>
          </a:p>
        </p:txBody>
      </p:sp>
      <p:sp>
        <p:nvSpPr>
          <p:cNvPr id="49" name="Text 40"/>
          <p:cNvSpPr txBox="1"/>
          <p:nvPr/>
        </p:nvSpPr>
        <p:spPr>
          <a:xfrm>
            <a:off x="5031943" y="4938674"/>
            <a:ext cx="715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$8M</a:t>
            </a:r>
            <a:endParaRPr lang="en-US" sz="2400" dirty="0"/>
          </a:p>
        </p:txBody>
      </p:sp>
      <p:sp>
        <p:nvSpPr>
          <p:cNvPr id="50" name="Text 41"/>
          <p:cNvSpPr txBox="1"/>
          <p:nvPr/>
        </p:nvSpPr>
        <p:spPr>
          <a:xfrm>
            <a:off x="1817827" y="5738774"/>
            <a:ext cx="40919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Initial capture via founder-led sales &amp; early partnerships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1817827" y="5501030"/>
            <a:ext cx="3972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Serviceable Obtainable Market (Year 1 Target)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0" b="0"/>
          <a:stretch/>
        </p:blipFill>
        <p:spPr>
          <a:xfrm>
            <a:off x="-952805" y="3047695"/>
            <a:ext cx="4762195" cy="476219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6598" y="6205118"/>
            <a:ext cx="133502" cy="13350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75995" y="6172200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Full Capability</a:t>
            </a:r>
            <a:endParaRPr lang="en-US" sz="10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12925" y="6205118"/>
            <a:ext cx="133502" cy="133502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2122322" y="6172200"/>
            <a:ext cx="10881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Partial / Limited</a:t>
            </a:r>
            <a:endParaRPr lang="en-US" sz="10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3258922" y="6205118"/>
            <a:ext cx="105156" cy="133502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3439973" y="6172200"/>
            <a:ext cx="5221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Missing</a:t>
            </a: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6615684" y="6067044"/>
            <a:ext cx="4914900" cy="409651"/>
          </a:xfrm>
          <a:prstGeom prst="roundRect">
            <a:avLst>
              <a:gd name="adj" fmla="val 83057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057339" y="6067044"/>
            <a:ext cx="4550054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01600" rIns="1905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Evolve Edge AI is the only platform offering proactive auto-remediation. </a:t>
            </a:r>
            <a:endParaRPr lang="en-US" sz="10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815938" y="6198718"/>
            <a:ext cx="133502" cy="133502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71500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57454"/>
            <a:ext cx="11199571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Only Platform That Fixes Compliance,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Just Tracks It</a:t>
            </a:r>
            <a:endParaRPr lang="en-US" sz="31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20" b="-420"/>
          <a:stretch/>
        </p:blipFill>
        <p:spPr>
          <a:xfrm>
            <a:off x="571500" y="1680667"/>
            <a:ext cx="761695" cy="3840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rcRect l="-3" r="-3" t="0" b="0"/>
          <a:stretch/>
        </p:blipFill>
        <p:spPr>
          <a:xfrm>
            <a:off x="571500" y="2004365"/>
            <a:ext cx="11048695" cy="3872484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580644" y="2013509"/>
            <a:ext cx="11030407" cy="961949"/>
          </a:xfrm>
          <a:prstGeom prst="roundRect">
            <a:avLst>
              <a:gd name="adj" fmla="val 30117"/>
            </a:avLst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9" name="Shape 9"/>
          <p:cNvSpPr/>
          <p:nvPr/>
        </p:nvSpPr>
        <p:spPr>
          <a:xfrm>
            <a:off x="580644" y="2966314"/>
            <a:ext cx="11030407" cy="9144"/>
          </a:xfrm>
          <a:prstGeom prst="roundRect">
            <a:avLst>
              <a:gd name="adj" fmla="val 3168317"/>
            </a:avLst>
          </a:prstGeom>
          <a:solidFill>
            <a:srgbClr val="334155">
              <a:alpha val="8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0"/>
          <p:cNvSpPr txBox="1"/>
          <p:nvPr/>
        </p:nvSpPr>
        <p:spPr>
          <a:xfrm>
            <a:off x="580644" y="2013509"/>
            <a:ext cx="2286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</a:t>
            </a:r>
            <a:endParaRPr lang="en-US" sz="12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-138298" r="-138298" t="0" b="0"/>
          <a:stretch/>
        </p:blipFill>
        <p:spPr>
          <a:xfrm>
            <a:off x="3196742" y="2203704"/>
            <a:ext cx="647395" cy="171907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168396" y="2451506"/>
            <a:ext cx="7150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</a:t>
            </a:r>
            <a:endParaRPr lang="en-US" sz="10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rcRect l="-185373" r="-185373" t="0" b="0"/>
          <a:stretch/>
        </p:blipFill>
        <p:spPr>
          <a:xfrm>
            <a:off x="4587545" y="2203704"/>
            <a:ext cx="809244" cy="171907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4559198" y="2451506"/>
            <a:ext cx="8668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Gap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Remediation</a:t>
            </a:r>
            <a:endParaRPr lang="en-US" sz="10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rcRect l="-166224" r="-166224" t="0" b="0"/>
          <a:stretch/>
        </p:blipFill>
        <p:spPr>
          <a:xfrm>
            <a:off x="6090818" y="2203704"/>
            <a:ext cx="743407" cy="171907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6062472" y="2451506"/>
            <a:ext cx="8001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</a:t>
            </a:r>
            <a:endParaRPr lang="en-US" sz="10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rcRect l="-174924" r="-174924" t="0" b="0"/>
          <a:stretch/>
        </p:blipFill>
        <p:spPr>
          <a:xfrm>
            <a:off x="7595006" y="2203704"/>
            <a:ext cx="676656" cy="171907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565746" y="2451506"/>
            <a:ext cx="7342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 Prep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</a:t>
            </a:r>
            <a:endParaRPr lang="en-US" sz="10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rcRect l="-222341" r="-222341" t="0" b="0"/>
          <a:stretch/>
        </p:blipFill>
        <p:spPr>
          <a:xfrm>
            <a:off x="8993124" y="2203704"/>
            <a:ext cx="819302" cy="171907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8964778" y="2451506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Consultant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Dependency</a:t>
            </a:r>
            <a:endParaRPr lang="en-US" sz="10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rcRect l="-138298" r="-138298" t="0" b="0"/>
          <a:stretch/>
        </p:blipFill>
        <p:spPr>
          <a:xfrm>
            <a:off x="10467137" y="2203704"/>
            <a:ext cx="809244" cy="171907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10438790" y="2451506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AI-Native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3" name="Shape 17"/>
          <p:cNvSpPr/>
          <p:nvPr/>
        </p:nvSpPr>
        <p:spPr>
          <a:xfrm>
            <a:off x="580644" y="3620110"/>
            <a:ext cx="11030407" cy="9144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4" name="Shape 18"/>
          <p:cNvSpPr/>
          <p:nvPr/>
        </p:nvSpPr>
        <p:spPr>
          <a:xfrm>
            <a:off x="823874" y="31437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rcRect l="-2512" r="-2512" t="0" b="0"/>
          <a:stretch/>
        </p:blipFill>
        <p:spPr>
          <a:xfrm>
            <a:off x="923544" y="3228746"/>
            <a:ext cx="105156" cy="133502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1242670" y="3167482"/>
            <a:ext cx="15407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Process</a:t>
            </a:r>
            <a:endParaRPr lang="en-US" sz="1300" dirty="0"/>
          </a:p>
        </p:txBody>
      </p:sp>
      <p:sp>
        <p:nvSpPr>
          <p:cNvPr id="37" name="Text 20"/>
          <p:cNvSpPr txBox="1"/>
          <p:nvPr/>
        </p:nvSpPr>
        <p:spPr>
          <a:xfrm>
            <a:off x="3393338" y="2971800"/>
            <a:ext cx="5056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Manual</a:t>
            </a:r>
            <a:endParaRPr lang="en-US" sz="1000" dirty="0"/>
          </a:p>
        </p:txBody>
      </p:sp>
      <p:sp>
        <p:nvSpPr>
          <p:cNvPr id="38" name="Text 21"/>
          <p:cNvSpPr txBox="1"/>
          <p:nvPr/>
        </p:nvSpPr>
        <p:spPr>
          <a:xfrm>
            <a:off x="4934102" y="2971800"/>
            <a:ext cx="3721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None</a:t>
            </a:r>
            <a:endParaRPr lang="en-US" sz="1000" dirty="0"/>
          </a:p>
        </p:txBody>
      </p:sp>
      <p:sp>
        <p:nvSpPr>
          <p:cNvPr id="39" name="Text 22"/>
          <p:cNvSpPr txBox="1"/>
          <p:nvPr/>
        </p:nvSpPr>
        <p:spPr>
          <a:xfrm>
            <a:off x="6323076" y="2971800"/>
            <a:ext cx="5340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Periodic</a:t>
            </a:r>
            <a:endParaRPr lang="en-US" sz="1000" dirty="0"/>
          </a:p>
        </p:txBody>
      </p:sp>
      <p:sp>
        <p:nvSpPr>
          <p:cNvPr id="40" name="Text 23"/>
          <p:cNvSpPr txBox="1"/>
          <p:nvPr/>
        </p:nvSpPr>
        <p:spPr>
          <a:xfrm>
            <a:off x="7610551" y="3195828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6-12 Months</a:t>
            </a:r>
            <a:endParaRPr lang="en-US" sz="1000" dirty="0"/>
          </a:p>
        </p:txBody>
      </p:sp>
      <p:sp>
        <p:nvSpPr>
          <p:cNvPr id="41" name="Text 24"/>
          <p:cNvSpPr txBox="1"/>
          <p:nvPr/>
        </p:nvSpPr>
        <p:spPr>
          <a:xfrm>
            <a:off x="8977579" y="3195828"/>
            <a:ext cx="11109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Heavy ($150k+)</a:t>
            </a:r>
            <a:endParaRPr lang="en-US" sz="1000" dirty="0"/>
          </a:p>
        </p:txBody>
      </p:sp>
      <p:sp>
        <p:nvSpPr>
          <p:cNvPr id="42" name="Shape 25"/>
          <p:cNvSpPr/>
          <p:nvPr/>
        </p:nvSpPr>
        <p:spPr>
          <a:xfrm>
            <a:off x="580644" y="4277563"/>
            <a:ext cx="11030407" cy="9144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3" name="Shape 26"/>
          <p:cNvSpPr/>
          <p:nvPr/>
        </p:nvSpPr>
        <p:spPr>
          <a:xfrm>
            <a:off x="1234440" y="380024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27"/>
          <p:cNvSpPr txBox="1"/>
          <p:nvPr/>
        </p:nvSpPr>
        <p:spPr>
          <a:xfrm>
            <a:off x="1206094" y="380024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</a:t>
            </a:r>
            <a:endParaRPr lang="en-US" sz="1000" dirty="0"/>
          </a:p>
        </p:txBody>
      </p:sp>
      <p:sp>
        <p:nvSpPr>
          <p:cNvPr id="45" name="Text 28"/>
          <p:cNvSpPr txBox="1"/>
          <p:nvPr/>
        </p:nvSpPr>
        <p:spPr>
          <a:xfrm>
            <a:off x="1653235" y="3824021"/>
            <a:ext cx="5623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Vanta</a:t>
            </a:r>
            <a:endParaRPr lang="en-US" sz="130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rcRect l="-1648" r="-1648" t="0" b="0"/>
          <a:stretch/>
        </p:blipFill>
        <p:spPr>
          <a:xfrm>
            <a:off x="3060497" y="3857854"/>
            <a:ext cx="171907" cy="190195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3307385" y="3629254"/>
            <a:ext cx="7434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Automated</a:t>
            </a:r>
            <a:endParaRPr lang="en-US" sz="100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466844" y="3877056"/>
            <a:ext cx="152705" cy="152705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4695444" y="3629254"/>
            <a:ext cx="8860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Tracking Only</a:t>
            </a:r>
            <a:endParaRPr lang="en-US" sz="100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rcRect l="-1648" r="-1648" t="0" b="0"/>
          <a:stretch/>
        </p:blipFill>
        <p:spPr>
          <a:xfrm>
            <a:off x="6237122" y="3857854"/>
            <a:ext cx="171907" cy="190195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6484010" y="3629254"/>
            <a:ext cx="2670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Yes</a:t>
            </a:r>
            <a:endParaRPr lang="en-US" sz="1000" dirty="0"/>
          </a:p>
        </p:txBody>
      </p:sp>
      <p:sp>
        <p:nvSpPr>
          <p:cNvPr id="52" name="Text 32"/>
          <p:cNvSpPr txBox="1"/>
          <p:nvPr/>
        </p:nvSpPr>
        <p:spPr>
          <a:xfrm>
            <a:off x="7780630" y="3853282"/>
            <a:ext cx="457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Weeks</a:t>
            </a:r>
            <a:endParaRPr lang="en-US" sz="1000" dirty="0"/>
          </a:p>
        </p:txBody>
      </p:sp>
      <p:sp>
        <p:nvSpPr>
          <p:cNvPr id="53" name="Text 33"/>
          <p:cNvSpPr txBox="1"/>
          <p:nvPr/>
        </p:nvSpPr>
        <p:spPr>
          <a:xfrm>
            <a:off x="9147658" y="3853282"/>
            <a:ext cx="685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Moderate</a:t>
            </a:r>
            <a:endParaRPr lang="en-US" sz="100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0545775" y="3877056"/>
            <a:ext cx="152705" cy="152705"/>
          </a:xfrm>
          <a:prstGeom prst="rect">
            <a:avLst/>
          </a:prstGeom>
        </p:spPr>
      </p:pic>
      <p:sp>
        <p:nvSpPr>
          <p:cNvPr id="55" name="Text 34"/>
          <p:cNvSpPr txBox="1"/>
          <p:nvPr/>
        </p:nvSpPr>
        <p:spPr>
          <a:xfrm>
            <a:off x="10774375" y="3629254"/>
            <a:ext cx="4864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Bolt-on</a:t>
            </a:r>
            <a:endParaRPr lang="en-US" sz="1000" dirty="0"/>
          </a:p>
        </p:txBody>
      </p:sp>
      <p:sp>
        <p:nvSpPr>
          <p:cNvPr id="56" name="Shape 35"/>
          <p:cNvSpPr/>
          <p:nvPr/>
        </p:nvSpPr>
        <p:spPr>
          <a:xfrm>
            <a:off x="580644" y="4935017"/>
            <a:ext cx="11030407" cy="9144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7" name="Shape 36"/>
          <p:cNvSpPr/>
          <p:nvPr/>
        </p:nvSpPr>
        <p:spPr>
          <a:xfrm>
            <a:off x="1249070" y="445770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37"/>
          <p:cNvSpPr txBox="1"/>
          <p:nvPr/>
        </p:nvSpPr>
        <p:spPr>
          <a:xfrm>
            <a:off x="1220724" y="445770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1000" dirty="0"/>
          </a:p>
        </p:txBody>
      </p:sp>
      <p:sp>
        <p:nvSpPr>
          <p:cNvPr id="59" name="Text 38"/>
          <p:cNvSpPr txBox="1"/>
          <p:nvPr/>
        </p:nvSpPr>
        <p:spPr>
          <a:xfrm>
            <a:off x="1668780" y="4481474"/>
            <a:ext cx="5440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Drata</a:t>
            </a:r>
            <a:endParaRPr lang="en-US" sz="1300" dirty="0"/>
          </a:p>
        </p:txBody>
      </p:sp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rcRect l="-1648" r="-1648" t="0" b="0"/>
          <a:stretch/>
        </p:blipFill>
        <p:spPr>
          <a:xfrm>
            <a:off x="3060497" y="4515307"/>
            <a:ext cx="171907" cy="190195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3307385" y="4286707"/>
            <a:ext cx="7434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Automated</a:t>
            </a:r>
            <a:endParaRPr lang="en-US" sz="1000" dirty="0"/>
          </a:p>
        </p:txBody>
      </p:sp>
      <p:pic>
        <p:nvPicPr>
          <p:cNvPr id="6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4466844" y="4533595"/>
            <a:ext cx="152705" cy="152705"/>
          </a:xfrm>
          <a:prstGeom prst="rect">
            <a:avLst/>
          </a:prstGeom>
        </p:spPr>
      </p:pic>
      <p:sp>
        <p:nvSpPr>
          <p:cNvPr id="63" name="Text 40"/>
          <p:cNvSpPr txBox="1"/>
          <p:nvPr/>
        </p:nvSpPr>
        <p:spPr>
          <a:xfrm>
            <a:off x="4695444" y="4286707"/>
            <a:ext cx="8860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Tracking Only</a:t>
            </a:r>
            <a:endParaRPr lang="en-US" sz="1000" dirty="0"/>
          </a:p>
        </p:txBody>
      </p:sp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rcRect l="-1648" r="-1648" t="0" b="0"/>
          <a:stretch/>
        </p:blipFill>
        <p:spPr>
          <a:xfrm>
            <a:off x="6237122" y="4515307"/>
            <a:ext cx="171907" cy="190195"/>
          </a:xfrm>
          <a:prstGeom prst="rect">
            <a:avLst/>
          </a:prstGeom>
        </p:spPr>
      </p:pic>
      <p:sp>
        <p:nvSpPr>
          <p:cNvPr id="65" name="Text 41"/>
          <p:cNvSpPr txBox="1"/>
          <p:nvPr/>
        </p:nvSpPr>
        <p:spPr>
          <a:xfrm>
            <a:off x="6484010" y="4286707"/>
            <a:ext cx="2670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Yes</a:t>
            </a:r>
            <a:endParaRPr lang="en-US" sz="1000" dirty="0"/>
          </a:p>
        </p:txBody>
      </p:sp>
      <p:sp>
        <p:nvSpPr>
          <p:cNvPr id="66" name="Text 42"/>
          <p:cNvSpPr txBox="1"/>
          <p:nvPr/>
        </p:nvSpPr>
        <p:spPr>
          <a:xfrm>
            <a:off x="7780630" y="4509821"/>
            <a:ext cx="457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Weeks</a:t>
            </a:r>
            <a:endParaRPr lang="en-US" sz="1000" dirty="0"/>
          </a:p>
        </p:txBody>
      </p:sp>
      <p:sp>
        <p:nvSpPr>
          <p:cNvPr id="67" name="Text 43"/>
          <p:cNvSpPr txBox="1"/>
          <p:nvPr/>
        </p:nvSpPr>
        <p:spPr>
          <a:xfrm>
            <a:off x="9147658" y="4509821"/>
            <a:ext cx="685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Moderate</a:t>
            </a:r>
            <a:endParaRPr lang="en-US" sz="1000" dirty="0"/>
          </a:p>
        </p:txBody>
      </p:sp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545775" y="4533595"/>
            <a:ext cx="152705" cy="152705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10774375" y="4286707"/>
            <a:ext cx="4864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Bolt-on</a:t>
            </a:r>
            <a:endParaRPr lang="en-US" sz="1000" dirty="0"/>
          </a:p>
        </p:txBody>
      </p:sp>
      <p:sp>
        <p:nvSpPr>
          <p:cNvPr id="70" name="Shape 45"/>
          <p:cNvSpPr/>
          <p:nvPr/>
        </p:nvSpPr>
        <p:spPr>
          <a:xfrm>
            <a:off x="580644" y="5591556"/>
            <a:ext cx="11030407" cy="9144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1" name="Shape 46"/>
          <p:cNvSpPr/>
          <p:nvPr/>
        </p:nvSpPr>
        <p:spPr>
          <a:xfrm>
            <a:off x="946404" y="511515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47"/>
          <p:cNvSpPr txBox="1"/>
          <p:nvPr/>
        </p:nvSpPr>
        <p:spPr>
          <a:xfrm>
            <a:off x="918058" y="511515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000" dirty="0"/>
          </a:p>
        </p:txBody>
      </p:sp>
      <p:sp>
        <p:nvSpPr>
          <p:cNvPr id="73" name="Text 48"/>
          <p:cNvSpPr txBox="1"/>
          <p:nvPr/>
        </p:nvSpPr>
        <p:spPr>
          <a:xfrm>
            <a:off x="1366114" y="5138928"/>
            <a:ext cx="12115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Secureframe</a:t>
            </a:r>
            <a:endParaRPr lang="en-US" sz="1300" dirty="0"/>
          </a:p>
        </p:txBody>
      </p:sp>
      <p:pic>
        <p:nvPicPr>
          <p:cNvPr id="74" name="Image 23" descr="preencoded.png">    </p:cNvPr>
          <p:cNvPicPr>
            <a:picLocks noChangeAspect="1"/>
          </p:cNvPicPr>
          <p:nvPr/>
        </p:nvPicPr>
        <p:blipFill>
          <a:blip r:embed="rId24"/>
          <a:srcRect l="-1648" r="-1648" t="0" b="0"/>
          <a:stretch/>
        </p:blipFill>
        <p:spPr>
          <a:xfrm>
            <a:off x="3060497" y="5171846"/>
            <a:ext cx="171907" cy="190195"/>
          </a:xfrm>
          <a:prstGeom prst="rect">
            <a:avLst/>
          </a:prstGeom>
        </p:spPr>
      </p:pic>
      <p:sp>
        <p:nvSpPr>
          <p:cNvPr id="75" name="Text 49"/>
          <p:cNvSpPr txBox="1"/>
          <p:nvPr/>
        </p:nvSpPr>
        <p:spPr>
          <a:xfrm>
            <a:off x="3307385" y="4943246"/>
            <a:ext cx="7434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Automated</a:t>
            </a:r>
            <a:endParaRPr lang="en-US" sz="1000" dirty="0"/>
          </a:p>
        </p:txBody>
      </p:sp>
      <p:pic>
        <p:nvPicPr>
          <p:cNvPr id="76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4466844" y="5191049"/>
            <a:ext cx="152705" cy="152705"/>
          </a:xfrm>
          <a:prstGeom prst="rect">
            <a:avLst/>
          </a:prstGeom>
        </p:spPr>
      </p:pic>
      <p:sp>
        <p:nvSpPr>
          <p:cNvPr id="77" name="Text 50"/>
          <p:cNvSpPr txBox="1"/>
          <p:nvPr/>
        </p:nvSpPr>
        <p:spPr>
          <a:xfrm>
            <a:off x="4695444" y="4943246"/>
            <a:ext cx="8860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Tracking Only</a:t>
            </a:r>
            <a:endParaRPr lang="en-US" sz="1000" dirty="0"/>
          </a:p>
        </p:txBody>
      </p:sp>
      <p:pic>
        <p:nvPicPr>
          <p:cNvPr id="78" name="Image 25" descr="preencoded.png">    </p:cNvPr>
          <p:cNvPicPr>
            <a:picLocks noChangeAspect="1"/>
          </p:cNvPicPr>
          <p:nvPr/>
        </p:nvPicPr>
        <p:blipFill>
          <a:blip r:embed="rId26"/>
          <a:srcRect l="-1648" r="-1648" t="0" b="0"/>
          <a:stretch/>
        </p:blipFill>
        <p:spPr>
          <a:xfrm>
            <a:off x="6237122" y="5171846"/>
            <a:ext cx="171907" cy="190195"/>
          </a:xfrm>
          <a:prstGeom prst="rect">
            <a:avLst/>
          </a:prstGeom>
        </p:spPr>
      </p:pic>
      <p:sp>
        <p:nvSpPr>
          <p:cNvPr id="79" name="Text 51"/>
          <p:cNvSpPr txBox="1"/>
          <p:nvPr/>
        </p:nvSpPr>
        <p:spPr>
          <a:xfrm>
            <a:off x="6484010" y="4943246"/>
            <a:ext cx="2670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Yes</a:t>
            </a:r>
            <a:endParaRPr lang="en-US" sz="1000" dirty="0"/>
          </a:p>
        </p:txBody>
      </p:sp>
      <p:sp>
        <p:nvSpPr>
          <p:cNvPr id="80" name="Text 52"/>
          <p:cNvSpPr txBox="1"/>
          <p:nvPr/>
        </p:nvSpPr>
        <p:spPr>
          <a:xfrm>
            <a:off x="7780630" y="5167274"/>
            <a:ext cx="457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Weeks</a:t>
            </a:r>
            <a:endParaRPr lang="en-US" sz="1000" dirty="0"/>
          </a:p>
        </p:txBody>
      </p:sp>
      <p:sp>
        <p:nvSpPr>
          <p:cNvPr id="81" name="Text 53"/>
          <p:cNvSpPr txBox="1"/>
          <p:nvPr/>
        </p:nvSpPr>
        <p:spPr>
          <a:xfrm>
            <a:off x="9147658" y="5167274"/>
            <a:ext cx="685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Moderate</a:t>
            </a:r>
            <a:endParaRPr lang="en-US" sz="1000" dirty="0"/>
          </a:p>
        </p:txBody>
      </p:sp>
      <p:pic>
        <p:nvPicPr>
          <p:cNvPr id="82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10545775" y="5191049"/>
            <a:ext cx="152705" cy="152705"/>
          </a:xfrm>
          <a:prstGeom prst="rect">
            <a:avLst/>
          </a:prstGeom>
        </p:spPr>
      </p:pic>
      <p:sp>
        <p:nvSpPr>
          <p:cNvPr id="83" name="Text 54"/>
          <p:cNvSpPr txBox="1"/>
          <p:nvPr/>
        </p:nvSpPr>
        <p:spPr>
          <a:xfrm>
            <a:off x="10774375" y="4943246"/>
            <a:ext cx="4864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Bolt-on</a:t>
            </a:r>
            <a:endParaRPr lang="en-US" sz="1000" dirty="0"/>
          </a:p>
        </p:txBody>
      </p:sp>
      <p:pic>
        <p:nvPicPr>
          <p:cNvPr id="84" name="Image 27" descr="preencoded.png">    </p:cNvPr>
          <p:cNvPicPr>
            <a:picLocks noChangeAspect="1"/>
          </p:cNvPicPr>
          <p:nvPr/>
        </p:nvPicPr>
        <p:blipFill>
          <a:blip r:embed="rId28">
            <a:alphaModFix amt="50000"/>
          </a:blip>
          <a:srcRect l="0" r="0" t="-100" b="-100"/>
          <a:stretch/>
        </p:blipFill>
        <p:spPr>
          <a:xfrm>
            <a:off x="3203143" y="3219602"/>
            <a:ext cx="114300" cy="152705"/>
          </a:xfrm>
          <a:prstGeom prst="rect">
            <a:avLst/>
          </a:prstGeom>
        </p:spPr>
      </p:pic>
      <p:pic>
        <p:nvPicPr>
          <p:cNvPr id="85" name="Image 28" descr="preencoded.png">    </p:cNvPr>
          <p:cNvPicPr>
            <a:picLocks noChangeAspect="1"/>
          </p:cNvPicPr>
          <p:nvPr/>
        </p:nvPicPr>
        <p:blipFill>
          <a:blip r:embed="rId29">
            <a:alphaModFix amt="50000"/>
          </a:blip>
          <a:srcRect l="0" r="0" t="-100" b="-100"/>
          <a:stretch/>
        </p:blipFill>
        <p:spPr>
          <a:xfrm>
            <a:off x="4743907" y="3219602"/>
            <a:ext cx="114300" cy="152705"/>
          </a:xfrm>
          <a:prstGeom prst="rect">
            <a:avLst/>
          </a:prstGeom>
        </p:spPr>
      </p:pic>
      <p:pic>
        <p:nvPicPr>
          <p:cNvPr id="86" name="Image 29" descr="preencoded.png">    </p:cNvPr>
          <p:cNvPicPr>
            <a:picLocks noChangeAspect="1"/>
          </p:cNvPicPr>
          <p:nvPr/>
        </p:nvPicPr>
        <p:blipFill>
          <a:blip r:embed="rId30">
            <a:alphaModFix amt="50000"/>
          </a:blip>
          <a:srcRect l="0" r="0" t="-100" b="-100"/>
          <a:stretch/>
        </p:blipFill>
        <p:spPr>
          <a:xfrm>
            <a:off x="6132881" y="3219602"/>
            <a:ext cx="114300" cy="152705"/>
          </a:xfrm>
          <a:prstGeom prst="rect">
            <a:avLst/>
          </a:prstGeom>
        </p:spPr>
      </p:pic>
      <p:pic>
        <p:nvPicPr>
          <p:cNvPr id="87" name="Image 30" descr="preencoded.png">    </p:cNvPr>
          <p:cNvPicPr>
            <a:picLocks noChangeAspect="1"/>
          </p:cNvPicPr>
          <p:nvPr/>
        </p:nvPicPr>
        <p:blipFill>
          <a:blip r:embed="rId31">
            <a:alphaModFix amt="50000"/>
          </a:blip>
          <a:srcRect l="0" r="0" t="-100" b="-100"/>
          <a:stretch/>
        </p:blipFill>
        <p:spPr>
          <a:xfrm>
            <a:off x="10816438" y="3219602"/>
            <a:ext cx="114300" cy="152705"/>
          </a:xfrm>
          <a:prstGeom prst="rect">
            <a:avLst/>
          </a:prstGeom>
        </p:spPr>
      </p:pic>
      <p:pic>
        <p:nvPicPr>
          <p:cNvPr id="88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-19" b="-19"/>
          <a:stretch/>
        </p:blipFill>
        <p:spPr>
          <a:xfrm>
            <a:off x="571500" y="5591556"/>
            <a:ext cx="11048695" cy="657454"/>
          </a:xfrm>
          <a:prstGeom prst="rect">
            <a:avLst/>
          </a:prstGeom>
        </p:spPr>
      </p:pic>
      <p:sp>
        <p:nvSpPr>
          <p:cNvPr id="89" name="Shape 55"/>
          <p:cNvSpPr/>
          <p:nvPr/>
        </p:nvSpPr>
        <p:spPr>
          <a:xfrm>
            <a:off x="819302" y="57726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2563eb">
                <a:alpha val="50000"/>
              </a:srgbClr>
            </a:outerShdw>
          </a:effectLst>
        </p:spPr>
      </p:sp>
      <p:pic>
        <p:nvPicPr>
          <p:cNvPr id="90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905256" y="5857646"/>
            <a:ext cx="133502" cy="133502"/>
          </a:xfrm>
          <a:prstGeom prst="rect">
            <a:avLst/>
          </a:prstGeom>
        </p:spPr>
      </p:pic>
      <p:sp>
        <p:nvSpPr>
          <p:cNvPr id="91" name="Text 56"/>
          <p:cNvSpPr txBox="1"/>
          <p:nvPr/>
        </p:nvSpPr>
        <p:spPr>
          <a:xfrm>
            <a:off x="1238098" y="5781751"/>
            <a:ext cx="15645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Evolve Edge AI</a:t>
            </a:r>
            <a:endParaRPr lang="en-US" sz="1500" dirty="0"/>
          </a:p>
        </p:txBody>
      </p:sp>
      <p:pic>
        <p:nvPicPr>
          <p:cNvPr id="92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3104388" y="5829300"/>
            <a:ext cx="190195" cy="190195"/>
          </a:xfrm>
          <a:prstGeom prst="rect">
            <a:avLst/>
          </a:prstGeom>
        </p:spPr>
      </p:pic>
      <p:sp>
        <p:nvSpPr>
          <p:cNvPr id="93" name="Text 57"/>
          <p:cNvSpPr txBox="1"/>
          <p:nvPr/>
        </p:nvSpPr>
        <p:spPr>
          <a:xfrm>
            <a:off x="3371393" y="5600700"/>
            <a:ext cx="6291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AI-Driven</a:t>
            </a:r>
            <a:endParaRPr lang="en-US" sz="1000" dirty="0"/>
          </a:p>
        </p:txBody>
      </p:sp>
      <p:pic>
        <p:nvPicPr>
          <p:cNvPr id="94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4606747" y="5829300"/>
            <a:ext cx="190195" cy="190195"/>
          </a:xfrm>
          <a:prstGeom prst="rect">
            <a:avLst/>
          </a:prstGeom>
        </p:spPr>
      </p:pic>
      <p:sp>
        <p:nvSpPr>
          <p:cNvPr id="95" name="Text 58"/>
          <p:cNvSpPr txBox="1"/>
          <p:nvPr/>
        </p:nvSpPr>
        <p:spPr>
          <a:xfrm>
            <a:off x="4873752" y="5600700"/>
            <a:ext cx="5623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Auto-Fix</a:t>
            </a:r>
            <a:endParaRPr lang="en-US" sz="1000" dirty="0"/>
          </a:p>
        </p:txBody>
      </p:sp>
      <p:pic>
        <p:nvPicPr>
          <p:cNvPr id="96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6022238" y="5829300"/>
            <a:ext cx="190195" cy="190195"/>
          </a:xfrm>
          <a:prstGeom prst="rect">
            <a:avLst/>
          </a:prstGeom>
        </p:spPr>
      </p:pic>
      <p:sp>
        <p:nvSpPr>
          <p:cNvPr id="97" name="Text 59"/>
          <p:cNvSpPr txBox="1"/>
          <p:nvPr/>
        </p:nvSpPr>
        <p:spPr>
          <a:xfrm>
            <a:off x="6289243" y="5600700"/>
            <a:ext cx="6766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98" name="Text 60"/>
          <p:cNvSpPr txBox="1"/>
          <p:nvPr/>
        </p:nvSpPr>
        <p:spPr>
          <a:xfrm>
            <a:off x="7824521" y="5824728"/>
            <a:ext cx="372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Days</a:t>
            </a:r>
            <a:endParaRPr lang="en-US" sz="1000" dirty="0"/>
          </a:p>
        </p:txBody>
      </p:sp>
      <p:sp>
        <p:nvSpPr>
          <p:cNvPr id="99" name="Text 61"/>
          <p:cNvSpPr txBox="1"/>
          <p:nvPr/>
        </p:nvSpPr>
        <p:spPr>
          <a:xfrm>
            <a:off x="9201607" y="5824728"/>
            <a:ext cx="5788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Minimal</a:t>
            </a:r>
            <a:endParaRPr lang="en-US" sz="1000" dirty="0"/>
          </a:p>
        </p:txBody>
      </p:sp>
      <p:pic>
        <p:nvPicPr>
          <p:cNvPr id="100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10525658" y="5829300"/>
            <a:ext cx="190195" cy="190195"/>
          </a:xfrm>
          <a:prstGeom prst="rect">
            <a:avLst/>
          </a:prstGeom>
        </p:spPr>
      </p:pic>
      <p:sp>
        <p:nvSpPr>
          <p:cNvPr id="101" name="Text 62"/>
          <p:cNvSpPr txBox="1"/>
          <p:nvPr/>
        </p:nvSpPr>
        <p:spPr>
          <a:xfrm>
            <a:off x="10791749" y="5600700"/>
            <a:ext cx="4956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AI-First</a:t>
            </a:r>
            <a:endParaRPr lang="en-US" sz="1000" dirty="0"/>
          </a:p>
        </p:txBody>
      </p:sp>
      <p:pic>
        <p:nvPicPr>
          <p:cNvPr id="102" name="Image 37" descr="preencoded.png">    </p:cNvPr>
          <p:cNvPicPr>
            <a:picLocks noChangeAspect="1"/>
          </p:cNvPicPr>
          <p:nvPr/>
        </p:nvPicPr>
        <p:blipFill>
          <a:blip r:embed="rId38"/>
          <a:srcRect l="-270" r="-270" t="0" b="0"/>
          <a:stretch/>
        </p:blipFill>
        <p:spPr>
          <a:xfrm>
            <a:off x="771754" y="5486400"/>
            <a:ext cx="1019556" cy="219456"/>
          </a:xfrm>
          <a:prstGeom prst="rect">
            <a:avLst/>
          </a:prstGeom>
        </p:spPr>
      </p:pic>
      <p:sp>
        <p:nvSpPr>
          <p:cNvPr id="103" name="Text 63"/>
          <p:cNvSpPr txBox="1"/>
          <p:nvPr/>
        </p:nvSpPr>
        <p:spPr>
          <a:xfrm>
            <a:off x="771754" y="5486400"/>
            <a:ext cx="1077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Product Deep Dive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657454"/>
            <a:ext cx="1140988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Platform: From Integration to Certification</a:t>
            </a:r>
            <a:endParaRPr lang="en-US" sz="3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" b="-10"/>
          <a:stretch/>
        </p:blipFill>
        <p:spPr>
          <a:xfrm>
            <a:off x="8197596" y="1447495"/>
            <a:ext cx="3422599" cy="93543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64601" y="1628546"/>
            <a:ext cx="152705" cy="1527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749894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Evidence Collection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8426196" y="1867205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Zero-touch gathering of logs, configs, and user access reviews from integrated systems.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" b="-10"/>
          <a:stretch/>
        </p:blipFill>
        <p:spPr>
          <a:xfrm>
            <a:off x="8197596" y="2573122"/>
            <a:ext cx="3422599" cy="93543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64601" y="2754173"/>
            <a:ext cx="152705" cy="1527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749894" y="2716682"/>
            <a:ext cx="247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Proactive Auto-Remediation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8426196" y="2992831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detects gaps and automatically applies fixes (e.g., closing open ports, enforcing MFA).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" b="-10"/>
          <a:stretch/>
        </p:blipFill>
        <p:spPr>
          <a:xfrm>
            <a:off x="8197596" y="3699662"/>
            <a:ext cx="3422599" cy="935431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64601" y="3879799"/>
            <a:ext cx="152705" cy="1527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8749894" y="3842309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Dashboards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8426196" y="4118458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Live view of compliance posture with instant alerts on drift or policy violations.</a:t>
            </a:r>
            <a:endParaRPr lang="en-US" sz="1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" b="-10"/>
          <a:stretch/>
        </p:blipFill>
        <p:spPr>
          <a:xfrm>
            <a:off x="8197596" y="4825289"/>
            <a:ext cx="3422599" cy="935431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rcRect l="-33" r="-33" t="0" b="0"/>
          <a:stretch/>
        </p:blipFill>
        <p:spPr>
          <a:xfrm>
            <a:off x="8455457" y="5006340"/>
            <a:ext cx="171907" cy="15270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8749894" y="4967935"/>
            <a:ext cx="2252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Cross-Framework Mapping</a:t>
            </a: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8426196" y="5244084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Map one control to multiple frameworks (collect once, comply many).</a:t>
            </a:r>
            <a:endParaRPr lang="en-US" sz="10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" b="-10"/>
          <a:stretch/>
        </p:blipFill>
        <p:spPr>
          <a:xfrm>
            <a:off x="8197596" y="5950915"/>
            <a:ext cx="3422599" cy="935431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464601" y="6131966"/>
            <a:ext cx="152705" cy="152705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8749894" y="6093562"/>
            <a:ext cx="1564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Instant Reporting</a:t>
            </a:r>
            <a:endParaRPr lang="en-US" sz="1200" dirty="0"/>
          </a:p>
        </p:txBody>
      </p:sp>
      <p:sp>
        <p:nvSpPr>
          <p:cNvPr id="25" name="Text 12"/>
          <p:cNvSpPr txBox="1"/>
          <p:nvPr/>
        </p:nvSpPr>
        <p:spPr>
          <a:xfrm>
            <a:off x="8426196" y="6369710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Generate audit-ready packages and auditor-specific views in seconds.</a:t>
            </a:r>
            <a:endParaRPr lang="en-US" sz="10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rcRect l="-4" r="-4" t="0" b="0"/>
          <a:stretch/>
        </p:blipFill>
        <p:spPr>
          <a:xfrm>
            <a:off x="571500" y="1447495"/>
            <a:ext cx="7245706" cy="5437937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765146" y="2737714"/>
            <a:ext cx="2857500" cy="2857500"/>
          </a:xfrm>
          <a:prstGeom prst="rect">
            <a:avLst/>
          </a:prstGeom>
        </p:spPr>
      </p:pic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083003" y="3757270"/>
            <a:ext cx="57607" cy="57607"/>
          </a:xfrm>
          <a:prstGeom prst="rect">
            <a:avLst/>
          </a:prstGeom>
        </p:spPr>
      </p:pic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490265" y="3757270"/>
            <a:ext cx="57607" cy="57607"/>
          </a:xfrm>
          <a:prstGeom prst="rect">
            <a:avLst/>
          </a:prstGeom>
        </p:spPr>
      </p:pic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897526" y="3757270"/>
            <a:ext cx="57607" cy="57607"/>
          </a:xfrm>
          <a:prstGeom prst="rect">
            <a:avLst/>
          </a:prstGeom>
        </p:spPr>
      </p:pic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304788" y="3757270"/>
            <a:ext cx="57607" cy="57607"/>
          </a:xfrm>
          <a:prstGeom prst="rect">
            <a:avLst/>
          </a:prstGeom>
        </p:spPr>
      </p:pic>
      <p:sp>
        <p:nvSpPr>
          <p:cNvPr id="32" name="Text 13"/>
          <p:cNvSpPr txBox="1"/>
          <p:nvPr/>
        </p:nvSpPr>
        <p:spPr>
          <a:xfrm>
            <a:off x="751637" y="4276649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Sources</a:t>
            </a:r>
            <a:endParaRPr lang="en-US" sz="1200" dirty="0"/>
          </a:p>
        </p:txBody>
      </p:sp>
      <p:pic>
        <p:nvPicPr>
          <p:cNvPr id="33" name="Image 17" descr="preencoded.png">    </p:cNvPr>
          <p:cNvPicPr>
            <a:picLocks noChangeAspect="1"/>
          </p:cNvPicPr>
          <p:nvPr/>
        </p:nvPicPr>
        <p:blipFill>
          <a:blip r:embed="rId18"/>
          <a:srcRect l="-1507" r="-1507" t="0" b="0"/>
          <a:stretch/>
        </p:blipFill>
        <p:spPr>
          <a:xfrm>
            <a:off x="1084478" y="4657039"/>
            <a:ext cx="171907" cy="133502"/>
          </a:xfrm>
          <a:prstGeom prst="rect">
            <a:avLst/>
          </a:prstGeom>
        </p:spPr>
      </p:pic>
      <p:pic>
        <p:nvPicPr>
          <p:cNvPr id="34" name="Image 18" descr="preencoded.png">    </p:cNvPr>
          <p:cNvPicPr>
            <a:picLocks noChangeAspect="1"/>
          </p:cNvPicPr>
          <p:nvPr/>
        </p:nvPicPr>
        <p:blipFill>
          <a:blip r:embed="rId19"/>
          <a:srcRect l="-17550" r="-17550" t="0" b="0"/>
          <a:stretch/>
        </p:blipFill>
        <p:spPr>
          <a:xfrm>
            <a:off x="1293876" y="4657039"/>
            <a:ext cx="171907" cy="133502"/>
          </a:xfrm>
          <a:prstGeom prst="rect">
            <a:avLst/>
          </a:prstGeom>
        </p:spPr>
      </p:pic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rcRect l="-16461" r="-16461" t="0" b="0"/>
          <a:stretch/>
        </p:blipFill>
        <p:spPr>
          <a:xfrm>
            <a:off x="1503274" y="4657039"/>
            <a:ext cx="171907" cy="133502"/>
          </a:xfrm>
          <a:prstGeom prst="rect">
            <a:avLst/>
          </a:prstGeom>
        </p:spPr>
      </p:pic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rcRect l="-23581" r="-23581" t="0" b="0"/>
          <a:stretch/>
        </p:blipFill>
        <p:spPr>
          <a:xfrm>
            <a:off x="1084478" y="4828946"/>
            <a:ext cx="171907" cy="133502"/>
          </a:xfrm>
          <a:prstGeom prst="rect">
            <a:avLst/>
          </a:prstGeom>
        </p:spPr>
      </p:pic>
      <p:pic>
        <p:nvPicPr>
          <p:cNvPr id="37" name="Image 21" descr="preencoded.png">    </p:cNvPr>
          <p:cNvPicPr>
            <a:picLocks noChangeAspect="1"/>
          </p:cNvPicPr>
          <p:nvPr/>
        </p:nvPicPr>
        <p:blipFill>
          <a:blip r:embed="rId22"/>
          <a:srcRect l="-23581" r="-23581" t="0" b="0"/>
          <a:stretch/>
        </p:blipFill>
        <p:spPr>
          <a:xfrm>
            <a:off x="1293876" y="4828946"/>
            <a:ext cx="171907" cy="133502"/>
          </a:xfrm>
          <a:prstGeom prst="rect">
            <a:avLst/>
          </a:prstGeom>
        </p:spPr>
      </p:pic>
      <p:pic>
        <p:nvPicPr>
          <p:cNvPr id="38" name="Image 22" descr="preencoded.png">    </p:cNvPr>
          <p:cNvPicPr>
            <a:picLocks noChangeAspect="1"/>
          </p:cNvPicPr>
          <p:nvPr/>
        </p:nvPicPr>
        <p:blipFill>
          <a:blip r:embed="rId23"/>
          <a:srcRect l="-23581" r="-23581" t="0" b="0"/>
          <a:stretch/>
        </p:blipFill>
        <p:spPr>
          <a:xfrm>
            <a:off x="1503274" y="4828946"/>
            <a:ext cx="171907" cy="133502"/>
          </a:xfrm>
          <a:prstGeom prst="rect">
            <a:avLst/>
          </a:prstGeom>
        </p:spPr>
      </p:pic>
      <p:pic>
        <p:nvPicPr>
          <p:cNvPr id="3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998525" y="3371393"/>
            <a:ext cx="761695" cy="761695"/>
          </a:xfrm>
          <a:prstGeom prst="rect">
            <a:avLst/>
          </a:prstGeom>
        </p:spPr>
      </p:pic>
      <p:pic>
        <p:nvPicPr>
          <p:cNvPr id="40" name="Image 24" descr="preencoded.png">    </p:cNvPr>
          <p:cNvPicPr>
            <a:picLocks noChangeAspect="1"/>
          </p:cNvPicPr>
          <p:nvPr/>
        </p:nvPicPr>
        <p:blipFill>
          <a:blip r:embed="rId25"/>
          <a:srcRect l="-90" r="-90" t="0" b="0"/>
          <a:stretch/>
        </p:blipFill>
        <p:spPr>
          <a:xfrm>
            <a:off x="1189634" y="3599993"/>
            <a:ext cx="381305" cy="304495"/>
          </a:xfrm>
          <a:prstGeom prst="rect">
            <a:avLst/>
          </a:prstGeom>
        </p:spPr>
      </p:pic>
      <p:sp>
        <p:nvSpPr>
          <p:cNvPr id="41" name="Text 14"/>
          <p:cNvSpPr txBox="1"/>
          <p:nvPr/>
        </p:nvSpPr>
        <p:spPr>
          <a:xfrm>
            <a:off x="2161642" y="4227271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Core Engine</a:t>
            </a:r>
            <a:endParaRPr lang="en-US" sz="1200" dirty="0"/>
          </a:p>
        </p:txBody>
      </p:sp>
      <p:sp>
        <p:nvSpPr>
          <p:cNvPr id="42" name="Text 15"/>
          <p:cNvSpPr txBox="1"/>
          <p:nvPr/>
        </p:nvSpPr>
        <p:spPr>
          <a:xfrm>
            <a:off x="2093976" y="4531766"/>
            <a:ext cx="13944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Continuous Monitoring</a:t>
            </a:r>
            <a:endParaRPr lang="en-US" sz="900" dirty="0"/>
          </a:p>
        </p:txBody>
      </p:sp>
      <p:sp>
        <p:nvSpPr>
          <p:cNvPr id="43" name="Text 16"/>
          <p:cNvSpPr txBox="1"/>
          <p:nvPr/>
        </p:nvSpPr>
        <p:spPr>
          <a:xfrm>
            <a:off x="2167128" y="4691786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Auto-Patching</a:t>
            </a:r>
            <a:endParaRPr lang="en-US" sz="900" dirty="0"/>
          </a:p>
        </p:txBody>
      </p:sp>
      <p:sp>
        <p:nvSpPr>
          <p:cNvPr id="44" name="Text 17"/>
          <p:cNvSpPr txBox="1"/>
          <p:nvPr/>
        </p:nvSpPr>
        <p:spPr>
          <a:xfrm>
            <a:off x="2167128" y="4851806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Risk Detection</a:t>
            </a:r>
            <a:endParaRPr lang="en-US" sz="900" dirty="0"/>
          </a:p>
        </p:txBody>
      </p:sp>
      <p:pic>
        <p:nvPicPr>
          <p:cNvPr id="45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2405786" y="3322015"/>
            <a:ext cx="761695" cy="761695"/>
          </a:xfrm>
          <a:prstGeom prst="rect">
            <a:avLst/>
          </a:prstGeom>
        </p:spPr>
      </p:pic>
      <p:pic>
        <p:nvPicPr>
          <p:cNvPr id="46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2634386" y="3550615"/>
            <a:ext cx="304495" cy="304495"/>
          </a:xfrm>
          <a:prstGeom prst="rect">
            <a:avLst/>
          </a:prstGeom>
        </p:spPr>
      </p:pic>
      <p:sp>
        <p:nvSpPr>
          <p:cNvPr id="47" name="Text 18"/>
          <p:cNvSpPr txBox="1"/>
          <p:nvPr/>
        </p:nvSpPr>
        <p:spPr>
          <a:xfrm>
            <a:off x="3706063" y="4112057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48" name="Shape 19"/>
          <p:cNvSpPr/>
          <p:nvPr/>
        </p:nvSpPr>
        <p:spPr>
          <a:xfrm>
            <a:off x="3776472" y="4493362"/>
            <a:ext cx="362102" cy="190195"/>
          </a:xfrm>
          <a:prstGeom prst="roundRect">
            <a:avLst>
              <a:gd name="adj" fmla="val 19230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9" name="Text 20"/>
          <p:cNvSpPr txBox="1"/>
          <p:nvPr/>
        </p:nvSpPr>
        <p:spPr>
          <a:xfrm>
            <a:off x="3776472" y="4493362"/>
            <a:ext cx="4197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HIPAA</a:t>
            </a:r>
            <a:endParaRPr lang="en-US" sz="800" dirty="0"/>
          </a:p>
        </p:txBody>
      </p:sp>
      <p:sp>
        <p:nvSpPr>
          <p:cNvPr id="50" name="Shape 21"/>
          <p:cNvSpPr/>
          <p:nvPr/>
        </p:nvSpPr>
        <p:spPr>
          <a:xfrm>
            <a:off x="4170578" y="4493362"/>
            <a:ext cx="448056" cy="190195"/>
          </a:xfrm>
          <a:prstGeom prst="roundRect">
            <a:avLst>
              <a:gd name="adj" fmla="val 19230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1" name="Text 22"/>
          <p:cNvSpPr txBox="1"/>
          <p:nvPr/>
        </p:nvSpPr>
        <p:spPr>
          <a:xfrm>
            <a:off x="4170578" y="4493362"/>
            <a:ext cx="5056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PCI DSS</a:t>
            </a:r>
            <a:endParaRPr lang="en-US" sz="800" dirty="0"/>
          </a:p>
        </p:txBody>
      </p:sp>
      <p:sp>
        <p:nvSpPr>
          <p:cNvPr id="52" name="Shape 23"/>
          <p:cNvSpPr/>
          <p:nvPr/>
        </p:nvSpPr>
        <p:spPr>
          <a:xfrm>
            <a:off x="3731666" y="4717390"/>
            <a:ext cx="381305" cy="190195"/>
          </a:xfrm>
          <a:prstGeom prst="roundRect">
            <a:avLst>
              <a:gd name="adj" fmla="val 19230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3" name="Text 24"/>
          <p:cNvSpPr txBox="1"/>
          <p:nvPr/>
        </p:nvSpPr>
        <p:spPr>
          <a:xfrm>
            <a:off x="3731666" y="4717390"/>
            <a:ext cx="4389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SOC 2</a:t>
            </a:r>
            <a:endParaRPr lang="en-US" sz="800" dirty="0"/>
          </a:p>
        </p:txBody>
      </p:sp>
      <p:sp>
        <p:nvSpPr>
          <p:cNvPr id="54" name="Shape 25"/>
          <p:cNvSpPr/>
          <p:nvPr/>
        </p:nvSpPr>
        <p:spPr>
          <a:xfrm>
            <a:off x="4149547" y="4717390"/>
            <a:ext cx="514807" cy="190195"/>
          </a:xfrm>
          <a:prstGeom prst="roundRect">
            <a:avLst>
              <a:gd name="adj" fmla="val 19230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5" name="Text 26"/>
          <p:cNvSpPr txBox="1"/>
          <p:nvPr/>
        </p:nvSpPr>
        <p:spPr>
          <a:xfrm>
            <a:off x="4149547" y="4717390"/>
            <a:ext cx="5715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ISO 27001</a:t>
            </a:r>
            <a:endParaRPr lang="en-US" sz="800" dirty="0"/>
          </a:p>
        </p:txBody>
      </p:sp>
      <p:sp>
        <p:nvSpPr>
          <p:cNvPr id="56" name="Shape 27"/>
          <p:cNvSpPr/>
          <p:nvPr/>
        </p:nvSpPr>
        <p:spPr>
          <a:xfrm>
            <a:off x="3949294" y="4940503"/>
            <a:ext cx="495605" cy="190195"/>
          </a:xfrm>
          <a:prstGeom prst="roundRect">
            <a:avLst>
              <a:gd name="adj" fmla="val 19230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7" name="Text 28"/>
          <p:cNvSpPr txBox="1"/>
          <p:nvPr/>
        </p:nvSpPr>
        <p:spPr>
          <a:xfrm>
            <a:off x="3949294" y="4940503"/>
            <a:ext cx="5532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FedRAMP</a:t>
            </a:r>
            <a:endParaRPr lang="en-US" sz="800" dirty="0"/>
          </a:p>
        </p:txBody>
      </p:sp>
      <p:pic>
        <p:nvPicPr>
          <p:cNvPr id="5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3813048" y="3206801"/>
            <a:ext cx="761695" cy="761695"/>
          </a:xfrm>
          <a:prstGeom prst="rect">
            <a:avLst/>
          </a:prstGeom>
        </p:spPr>
      </p:pic>
      <p:pic>
        <p:nvPicPr>
          <p:cNvPr id="59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4041648" y="3435401"/>
            <a:ext cx="304495" cy="304495"/>
          </a:xfrm>
          <a:prstGeom prst="rect">
            <a:avLst/>
          </a:prstGeom>
        </p:spPr>
      </p:pic>
      <p:sp>
        <p:nvSpPr>
          <p:cNvPr id="60" name="Text 29"/>
          <p:cNvSpPr txBox="1"/>
          <p:nvPr/>
        </p:nvSpPr>
        <p:spPr>
          <a:xfrm>
            <a:off x="5098694" y="4227271"/>
            <a:ext cx="100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 Library</a:t>
            </a:r>
            <a:endParaRPr lang="en-US" sz="1200" dirty="0"/>
          </a:p>
        </p:txBody>
      </p:sp>
      <p:sp>
        <p:nvSpPr>
          <p:cNvPr id="61" name="Text 30"/>
          <p:cNvSpPr txBox="1"/>
          <p:nvPr/>
        </p:nvSpPr>
        <p:spPr>
          <a:xfrm>
            <a:off x="5191049" y="4531766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Policies</a:t>
            </a:r>
            <a:endParaRPr lang="en-US" sz="900" dirty="0"/>
          </a:p>
        </p:txBody>
      </p:sp>
      <p:sp>
        <p:nvSpPr>
          <p:cNvPr id="62" name="Text 31"/>
          <p:cNvSpPr txBox="1"/>
          <p:nvPr/>
        </p:nvSpPr>
        <p:spPr>
          <a:xfrm>
            <a:off x="5191049" y="4691786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Evidence</a:t>
            </a:r>
            <a:endParaRPr lang="en-US" sz="900" dirty="0"/>
          </a:p>
        </p:txBody>
      </p:sp>
      <p:sp>
        <p:nvSpPr>
          <p:cNvPr id="63" name="Text 32"/>
          <p:cNvSpPr txBox="1"/>
          <p:nvPr/>
        </p:nvSpPr>
        <p:spPr>
          <a:xfrm>
            <a:off x="5157216" y="485180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Vendor Mgmt</a:t>
            </a:r>
            <a:endParaRPr lang="en-US" sz="900" dirty="0"/>
          </a:p>
        </p:txBody>
      </p:sp>
      <p:pic>
        <p:nvPicPr>
          <p:cNvPr id="64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5220310" y="3322015"/>
            <a:ext cx="761695" cy="761695"/>
          </a:xfrm>
          <a:prstGeom prst="rect">
            <a:avLst/>
          </a:prstGeom>
        </p:spPr>
      </p:pic>
      <p:pic>
        <p:nvPicPr>
          <p:cNvPr id="65" name="Image 30" descr="preencoded.png">    </p:cNvPr>
          <p:cNvPicPr>
            <a:picLocks noChangeAspect="1"/>
          </p:cNvPicPr>
          <p:nvPr/>
        </p:nvPicPr>
        <p:blipFill>
          <a:blip r:embed="rId31"/>
          <a:srcRect l="-50" r="-50" t="0" b="0"/>
          <a:stretch/>
        </p:blipFill>
        <p:spPr>
          <a:xfrm>
            <a:off x="5429707" y="3550615"/>
            <a:ext cx="342900" cy="304495"/>
          </a:xfrm>
          <a:prstGeom prst="rect">
            <a:avLst/>
          </a:prstGeom>
        </p:spPr>
      </p:pic>
      <p:sp>
        <p:nvSpPr>
          <p:cNvPr id="66" name="Text 33"/>
          <p:cNvSpPr txBox="1"/>
          <p:nvPr/>
        </p:nvSpPr>
        <p:spPr>
          <a:xfrm>
            <a:off x="6473952" y="4227271"/>
            <a:ext cx="1076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 Ready</a:t>
            </a:r>
            <a:endParaRPr lang="en-US" sz="1200" dirty="0"/>
          </a:p>
        </p:txBody>
      </p:sp>
      <p:sp>
        <p:nvSpPr>
          <p:cNvPr id="67" name="Text 34"/>
          <p:cNvSpPr txBox="1"/>
          <p:nvPr/>
        </p:nvSpPr>
        <p:spPr>
          <a:xfrm>
            <a:off x="6515100" y="4531766"/>
            <a:ext cx="995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Audit Report</a:t>
            </a:r>
            <a:endParaRPr lang="en-US" sz="900" dirty="0"/>
          </a:p>
        </p:txBody>
      </p:sp>
      <p:sp>
        <p:nvSpPr>
          <p:cNvPr id="68" name="Text 35"/>
          <p:cNvSpPr txBox="1"/>
          <p:nvPr/>
        </p:nvSpPr>
        <p:spPr>
          <a:xfrm>
            <a:off x="6491326" y="4691786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Readiness Score</a:t>
            </a:r>
            <a:endParaRPr lang="en-US" sz="900" dirty="0"/>
          </a:p>
        </p:txBody>
      </p:sp>
      <p:sp>
        <p:nvSpPr>
          <p:cNvPr id="69" name="Text 36"/>
          <p:cNvSpPr txBox="1"/>
          <p:nvPr/>
        </p:nvSpPr>
        <p:spPr>
          <a:xfrm>
            <a:off x="6491326" y="4851806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• Certification</a:t>
            </a:r>
            <a:endParaRPr lang="en-US" sz="900" dirty="0"/>
          </a:p>
        </p:txBody>
      </p:sp>
      <p:pic>
        <p:nvPicPr>
          <p:cNvPr id="70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6627571" y="3322015"/>
            <a:ext cx="761695" cy="761695"/>
          </a:xfrm>
          <a:prstGeom prst="rect">
            <a:avLst/>
          </a:prstGeom>
        </p:spPr>
      </p:pic>
      <p:pic>
        <p:nvPicPr>
          <p:cNvPr id="71" name="Image 32" descr="preencoded.png">    </p:cNvPr>
          <p:cNvPicPr>
            <a:picLocks noChangeAspect="1"/>
          </p:cNvPicPr>
          <p:nvPr/>
        </p:nvPicPr>
        <p:blipFill>
          <a:blip r:embed="rId33"/>
          <a:srcRect l="-50" r="-50" t="0" b="0"/>
          <a:stretch/>
        </p:blipFill>
        <p:spPr>
          <a:xfrm>
            <a:off x="6894576" y="3550615"/>
            <a:ext cx="228600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38805" y="571500"/>
            <a:ext cx="5715000" cy="5715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525098" y="286207"/>
            <a:ext cx="381305" cy="19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887200" y="286207"/>
            <a:ext cx="19202" cy="3813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86207" y="6553505"/>
            <a:ext cx="381305" cy="19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86207" y="6191402"/>
            <a:ext cx="19202" cy="3813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4807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676656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Simple, Scalable SaaS Pricing</a:t>
            </a:r>
            <a:endParaRPr lang="en-US" sz="3600" dirty="0"/>
          </a:p>
        </p:txBody>
      </p:sp>
      <p:sp>
        <p:nvSpPr>
          <p:cNvPr id="11" name="Shape 7"/>
          <p:cNvSpPr/>
          <p:nvPr/>
        </p:nvSpPr>
        <p:spPr>
          <a:xfrm>
            <a:off x="571500" y="1647749"/>
            <a:ext cx="3495751" cy="4533595"/>
          </a:xfrm>
          <a:prstGeom prst="roundRect">
            <a:avLst>
              <a:gd name="adj" fmla="val 228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1500" y="1647749"/>
            <a:ext cx="3495751" cy="38405"/>
          </a:xfrm>
          <a:prstGeom prst="roundRect">
            <a:avLst>
              <a:gd name="adj" fmla="val 20760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9244" y="1971446"/>
            <a:ext cx="3020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75" kern="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Basic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689811" y="2657246"/>
            <a:ext cx="219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823314" y="240944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10K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2682850" y="27432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/yr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" y="3143707"/>
            <a:ext cx="3020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Entry-level compliance automation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2089" r="-2089" t="0" b="0"/>
          <a:stretch/>
        </p:blipFill>
        <p:spPr>
          <a:xfrm>
            <a:off x="866851" y="3581705"/>
            <a:ext cx="2902306" cy="91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5451" y="38295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 Compliance Framework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857854"/>
            <a:ext cx="114300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5451" y="41724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Up to 5 Users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66851" y="4200754"/>
            <a:ext cx="114300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5451" y="45153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Dashboards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866851" y="4543654"/>
            <a:ext cx="114300" cy="1335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95451" y="48582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Chatbot Support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866851" y="4886554"/>
            <a:ext cx="114300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95451" y="52011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Manual Evidence Upload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866851" y="5229454"/>
            <a:ext cx="114300" cy="13350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28102" y="1647749"/>
            <a:ext cx="3495751" cy="4533595"/>
          </a:xfrm>
          <a:prstGeom prst="roundRect">
            <a:avLst>
              <a:gd name="adj" fmla="val 228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8128102" y="1647749"/>
            <a:ext cx="3495751" cy="38405"/>
          </a:xfrm>
          <a:prstGeom prst="roundRect">
            <a:avLst>
              <a:gd name="adj" fmla="val 20760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8365846" y="1971446"/>
            <a:ext cx="3020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75" kern="0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9071762" y="2657246"/>
            <a:ext cx="219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9219895" y="240944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80K+</a:t>
            </a:r>
            <a:endParaRPr lang="en-US" sz="3600" dirty="0"/>
          </a:p>
        </p:txBody>
      </p:sp>
      <p:sp>
        <p:nvSpPr>
          <p:cNvPr id="34" name="Text 24"/>
          <p:cNvSpPr txBox="1"/>
          <p:nvPr/>
        </p:nvSpPr>
        <p:spPr>
          <a:xfrm>
            <a:off x="10415016" y="27432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/yr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365846" y="3143707"/>
            <a:ext cx="3020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Full-scale organizational security</a:t>
            </a:r>
            <a:endParaRPr lang="en-US" sz="10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-2089" r="-2089" t="0" b="0"/>
          <a:stretch/>
        </p:blipFill>
        <p:spPr>
          <a:xfrm>
            <a:off x="8423453" y="3581705"/>
            <a:ext cx="2902306" cy="91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652053" y="38295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Unlimited Frameworks</a:t>
            </a:r>
            <a:endParaRPr lang="en-US" sz="11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8423453" y="3857854"/>
            <a:ext cx="114300" cy="13350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652053" y="41724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Unlimited Users</a:t>
            </a:r>
            <a:endParaRPr lang="en-US" sz="11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8423453" y="4200754"/>
            <a:ext cx="114300" cy="133502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8652053" y="45153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FedRAMP Roadmap Access</a:t>
            </a:r>
            <a:endParaRPr lang="en-US" sz="11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8423453" y="4543654"/>
            <a:ext cx="114300" cy="13350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652053" y="48582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SSO / SAML Integration</a:t>
            </a:r>
            <a:endParaRPr lang="en-US" sz="11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8423453" y="4886554"/>
            <a:ext cx="114300" cy="13350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652053" y="52011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White-Glove Onboarding</a:t>
            </a:r>
            <a:endParaRPr lang="en-US" sz="11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8423453" y="5229454"/>
            <a:ext cx="114300" cy="13350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652053" y="5544007"/>
            <a:ext cx="2791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Dedicated Success Manager</a:t>
            </a:r>
            <a:endParaRPr lang="en-US" sz="11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8423453" y="5572354"/>
            <a:ext cx="114300" cy="133502"/>
          </a:xfrm>
          <a:prstGeom prst="rect">
            <a:avLst/>
          </a:prstGeom>
        </p:spPr>
      </p:pic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" b="-4"/>
          <a:stretch/>
        </p:blipFill>
        <p:spPr>
          <a:xfrm>
            <a:off x="4262933" y="1534363"/>
            <a:ext cx="3666744" cy="4760366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4515307" y="1874520"/>
            <a:ext cx="3162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75" kern="0" dirty="0">
                <a:solidFill>
                  <a:srgbClr val="256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</a:t>
            </a:r>
            <a:endParaRPr lang="en-US" sz="1800" dirty="0"/>
          </a:p>
        </p:txBody>
      </p:sp>
      <p:sp>
        <p:nvSpPr>
          <p:cNvPr id="51" name="Text 33"/>
          <p:cNvSpPr txBox="1"/>
          <p:nvPr/>
        </p:nvSpPr>
        <p:spPr>
          <a:xfrm>
            <a:off x="5403190" y="2594153"/>
            <a:ext cx="228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</a:t>
            </a:r>
            <a:endParaRPr lang="en-US" sz="1800" dirty="0"/>
          </a:p>
        </p:txBody>
      </p:sp>
      <p:sp>
        <p:nvSpPr>
          <p:cNvPr id="52" name="Text 34"/>
          <p:cNvSpPr txBox="1"/>
          <p:nvPr/>
        </p:nvSpPr>
        <p:spPr>
          <a:xfrm>
            <a:off x="5567782" y="2334463"/>
            <a:ext cx="98115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50K</a:t>
            </a:r>
            <a:endParaRPr lang="en-US" sz="3600" dirty="0"/>
          </a:p>
        </p:txBody>
      </p:sp>
      <p:sp>
        <p:nvSpPr>
          <p:cNvPr id="53" name="Text 35"/>
          <p:cNvSpPr txBox="1"/>
          <p:nvPr/>
        </p:nvSpPr>
        <p:spPr>
          <a:xfrm>
            <a:off x="6516929" y="2684678"/>
            <a:ext cx="2770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/yr</a:t>
            </a:r>
            <a:endParaRPr lang="en-US" sz="1200" dirty="0"/>
          </a:p>
        </p:txBody>
      </p:sp>
      <p:sp>
        <p:nvSpPr>
          <p:cNvPr id="54" name="Text 36"/>
          <p:cNvSpPr txBox="1"/>
          <p:nvPr/>
        </p:nvSpPr>
        <p:spPr>
          <a:xfrm>
            <a:off x="4515307" y="3104388"/>
            <a:ext cx="3162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For growing mid-market teams</a:t>
            </a:r>
            <a:endParaRPr lang="en-US" sz="10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292" b="-292"/>
          <a:stretch/>
        </p:blipFill>
        <p:spPr>
          <a:xfrm>
            <a:off x="4572914" y="3564331"/>
            <a:ext cx="3046781" cy="10058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4822546" y="3824935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Up to 3 Frameworks</a:t>
            </a:r>
            <a:endParaRPr lang="en-US" sz="1100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4572914" y="3855110"/>
            <a:ext cx="133502" cy="152705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4822546" y="4185209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Up to 25 Users</a:t>
            </a:r>
            <a:endParaRPr lang="en-US" sz="1100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43" b="-43"/>
          <a:stretch/>
        </p:blipFill>
        <p:spPr>
          <a:xfrm>
            <a:off x="4572914" y="4214470"/>
            <a:ext cx="133502" cy="152705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4822546" y="4544568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Proactive Auto-Remediation</a:t>
            </a:r>
            <a:endParaRPr lang="en-US" sz="1100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3" b="-43"/>
          <a:stretch/>
        </p:blipFill>
        <p:spPr>
          <a:xfrm>
            <a:off x="4572914" y="4574743"/>
            <a:ext cx="133502" cy="152705"/>
          </a:xfrm>
          <a:prstGeom prst="rect">
            <a:avLst/>
          </a:prstGeom>
        </p:spPr>
      </p:pic>
      <p:sp>
        <p:nvSpPr>
          <p:cNvPr id="62" name="Text 40"/>
          <p:cNvSpPr txBox="1"/>
          <p:nvPr/>
        </p:nvSpPr>
        <p:spPr>
          <a:xfrm>
            <a:off x="4822546" y="4904842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Full API Access</a:t>
            </a:r>
            <a:endParaRPr lang="en-US" sz="1100" dirty="0"/>
          </a:p>
        </p:txBody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43" b="-43"/>
          <a:stretch/>
        </p:blipFill>
        <p:spPr>
          <a:xfrm>
            <a:off x="4572914" y="4935017"/>
            <a:ext cx="133502" cy="152705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4822546" y="5265115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Priority Support</a:t>
            </a:r>
            <a:endParaRPr lang="en-US" sz="1100" dirty="0"/>
          </a:p>
        </p:txBody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3" b="-43"/>
          <a:stretch/>
        </p:blipFill>
        <p:spPr>
          <a:xfrm>
            <a:off x="4572914" y="5295290"/>
            <a:ext cx="133502" cy="152705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4822546" y="5625389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Cloud Integrations (AWS, GitHub)</a:t>
            </a:r>
            <a:endParaRPr lang="en-US" sz="1100" dirty="0"/>
          </a:p>
        </p:txBody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43" b="-43"/>
          <a:stretch/>
        </p:blipFill>
        <p:spPr>
          <a:xfrm>
            <a:off x="4572914" y="5654650"/>
            <a:ext cx="133502" cy="152705"/>
          </a:xfrm>
          <a:prstGeom prst="rect">
            <a:avLst/>
          </a:prstGeom>
        </p:spPr>
      </p:pic>
      <p:pic>
        <p:nvPicPr>
          <p:cNvPr id="68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626" b="-626"/>
          <a:stretch/>
        </p:blipFill>
        <p:spPr>
          <a:xfrm>
            <a:off x="5426050" y="1424635"/>
            <a:ext cx="1343254" cy="304495"/>
          </a:xfrm>
          <a:prstGeom prst="rect">
            <a:avLst/>
          </a:prstGeom>
        </p:spPr>
      </p:pic>
      <p:sp>
        <p:nvSpPr>
          <p:cNvPr id="69" name="Text 43"/>
          <p:cNvSpPr/>
          <p:nvPr/>
        </p:nvSpPr>
        <p:spPr>
          <a:xfrm>
            <a:off x="5397703" y="1424635"/>
            <a:ext cx="14008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70" name="Shape 44"/>
          <p:cNvSpPr/>
          <p:nvPr/>
        </p:nvSpPr>
        <p:spPr>
          <a:xfrm>
            <a:off x="571500" y="6467551"/>
            <a:ext cx="11048695" cy="590702"/>
          </a:xfrm>
          <a:prstGeom prst="roundRect">
            <a:avLst>
              <a:gd name="adj" fmla="val 5992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Text 45"/>
          <p:cNvSpPr txBox="1"/>
          <p:nvPr/>
        </p:nvSpPr>
        <p:spPr>
          <a:xfrm>
            <a:off x="1095451" y="6648602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Modular Add-Ons </a:t>
            </a:r>
            <a:endParaRPr lang="en-US" sz="1200" dirty="0"/>
          </a:p>
        </p:txBody>
      </p:sp>
      <p:pic>
        <p:nvPicPr>
          <p:cNvPr id="7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866851" y="6687007"/>
            <a:ext cx="152705" cy="152705"/>
          </a:xfrm>
          <a:prstGeom prst="rect">
            <a:avLst/>
          </a:prstGeom>
        </p:spPr>
      </p:pic>
      <p:sp>
        <p:nvSpPr>
          <p:cNvPr id="73" name="Text 46"/>
          <p:cNvSpPr txBox="1"/>
          <p:nvPr/>
        </p:nvSpPr>
        <p:spPr>
          <a:xfrm>
            <a:off x="4324198" y="6620256"/>
            <a:ext cx="231251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$500 – $5,000 </a:t>
            </a:r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 module</a:t>
            </a:r>
            <a:endParaRPr lang="en-US" sz="1500" dirty="0"/>
          </a:p>
        </p:txBody>
      </p:sp>
      <p:sp>
        <p:nvSpPr>
          <p:cNvPr id="74" name="Text 47"/>
          <p:cNvSpPr txBox="1"/>
          <p:nvPr/>
        </p:nvSpPr>
        <p:spPr>
          <a:xfrm>
            <a:off x="6452006" y="6662318"/>
            <a:ext cx="5563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Extra frameworks, advanced features, and custom integrations available as needed</a:t>
            </a:r>
            <a:endParaRPr lang="en-US" sz="1000" dirty="0"/>
          </a:p>
        </p:txBody>
      </p:sp>
      <p:sp>
        <p:nvSpPr>
          <p:cNvPr id="75" name="Text 48"/>
          <p:cNvSpPr txBox="1"/>
          <p:nvPr/>
        </p:nvSpPr>
        <p:spPr>
          <a:xfrm>
            <a:off x="5701284" y="6696151"/>
            <a:ext cx="6629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 module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" y="1893722"/>
            <a:ext cx="2609698" cy="1638605"/>
          </a:xfrm>
          <a:prstGeom prst="roundRect">
            <a:avLst>
              <a:gd name="adj" fmla="val 778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1754" y="209397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833018" y="2169871"/>
            <a:ext cx="256946" cy="228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71754" y="2569464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</a:t>
            </a:r>
            <a:endParaRPr lang="en-US" sz="2700" dirty="0"/>
          </a:p>
        </p:txBody>
      </p:sp>
      <p:sp>
        <p:nvSpPr>
          <p:cNvPr id="9" name="Text 4"/>
          <p:cNvSpPr txBox="1"/>
          <p:nvPr/>
        </p:nvSpPr>
        <p:spPr>
          <a:xfrm>
            <a:off x="771754" y="2950769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Of interviewed orgs ready to purchase immediately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372307" y="1893722"/>
            <a:ext cx="2609698" cy="1638605"/>
          </a:xfrm>
          <a:prstGeom prst="roundRect">
            <a:avLst>
              <a:gd name="adj" fmla="val 778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571646" y="209397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48456" y="2169871"/>
            <a:ext cx="228600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71646" y="2569464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20%</a:t>
            </a:r>
            <a:endParaRPr lang="en-US" sz="2700" dirty="0"/>
          </a:p>
        </p:txBody>
      </p:sp>
      <p:sp>
        <p:nvSpPr>
          <p:cNvPr id="14" name="Text 8"/>
          <p:cNvSpPr txBox="1"/>
          <p:nvPr/>
        </p:nvSpPr>
        <p:spPr>
          <a:xfrm>
            <a:off x="3571646" y="2950769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Plan to purchase in near-term roadmap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71500" y="3714293"/>
            <a:ext cx="2609698" cy="1638605"/>
          </a:xfrm>
          <a:prstGeom prst="roundRect">
            <a:avLst>
              <a:gd name="adj" fmla="val 778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71754" y="400781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7649" y="408371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1754" y="4484218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$482K</a:t>
            </a:r>
            <a:endParaRPr lang="en-US" sz="27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865522"/>
            <a:ext cx="26298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Pre-seed funding target (SAFE Note)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3372307" y="3714293"/>
            <a:ext cx="2609698" cy="1638605"/>
          </a:xfrm>
          <a:prstGeom prst="roundRect">
            <a:avLst>
              <a:gd name="adj" fmla="val 778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3571646" y="391454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3619195" y="3990442"/>
            <a:ext cx="286207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571646" y="4390949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Expertise</a:t>
            </a:r>
            <a:endParaRPr lang="en-US" sz="2700" dirty="0"/>
          </a:p>
        </p:txBody>
      </p:sp>
      <p:sp>
        <p:nvSpPr>
          <p:cNvPr id="24" name="Text 16"/>
          <p:cNvSpPr txBox="1"/>
          <p:nvPr/>
        </p:nvSpPr>
        <p:spPr>
          <a:xfrm>
            <a:off x="3571646" y="4772254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Founder-led PCI DSS + HIPAA deep domain experience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71500" y="5802782"/>
            <a:ext cx="11048695" cy="1238098"/>
          </a:xfrm>
          <a:prstGeom prst="roundRect">
            <a:avLst>
              <a:gd name="adj" fmla="val 18180"/>
            </a:avLst>
          </a:prstGeom>
          <a:solidFill>
            <a:srgbClr val="0A0F1E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1095451" y="6049670"/>
            <a:ext cx="10344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Path to Initial Traction 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66851" y="6088075"/>
            <a:ext cx="152705" cy="1527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71500" y="381305"/>
            <a:ext cx="2143354" cy="295351"/>
          </a:xfrm>
          <a:prstGeom prst="roundRect">
            <a:avLst>
              <a:gd name="adj" fmla="val 79896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571500" y="381305"/>
            <a:ext cx="22201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&amp; Validation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571500" y="752551"/>
            <a:ext cx="11239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Validation: Demand Is Real</a:t>
            </a:r>
            <a:endParaRPr lang="en-US" sz="3600" dirty="0"/>
          </a:p>
        </p:txBody>
      </p:sp>
      <p:sp>
        <p:nvSpPr>
          <p:cNvPr id="31" name="Text 22"/>
          <p:cNvSpPr txBox="1"/>
          <p:nvPr/>
        </p:nvSpPr>
        <p:spPr>
          <a:xfrm>
            <a:off x="571500" y="1350569"/>
            <a:ext cx="79324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Strong early indicators confirm urgent market need for automated compliance.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210605" y="1893722"/>
            <a:ext cx="5410505" cy="3685946"/>
          </a:xfrm>
          <a:prstGeom prst="roundRect">
            <a:avLst>
              <a:gd name="adj" fmla="val 2051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-17" r="-17" t="0" b="0"/>
          <a:stretch/>
        </p:blipFill>
        <p:spPr>
          <a:xfrm>
            <a:off x="6409944" y="2093976"/>
            <a:ext cx="333756" cy="3813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505956" y="4385462"/>
            <a:ext cx="381305" cy="38130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76695" y="4385462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CTO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7000646" y="4414723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Chief Technology Officer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7000646" y="4588459"/>
            <a:ext cx="1581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Mid-Market Fintech Co.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1057046" y="6469380"/>
            <a:ext cx="10077602" cy="38405"/>
          </a:xfrm>
          <a:prstGeom prst="roundRect">
            <a:avLst>
              <a:gd name="adj" fmla="val 23809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4" b="-404"/>
          <a:stretch/>
        </p:blipFill>
        <p:spPr>
          <a:xfrm>
            <a:off x="1057046" y="6469380"/>
            <a:ext cx="6046013" cy="384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505956" y="2701138"/>
            <a:ext cx="4920386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"If you can truly auto-fix controls instead of just flagging them, we'll buy yesterday. The manual remediation is killing our velocity."</a:t>
            </a:r>
            <a:endParaRPr lang="en-US" sz="21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57046" y="6411773"/>
            <a:ext cx="152705" cy="15270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381305" y="6668719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Pilot Programs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381305" y="688817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High-touch onboarding</a:t>
            </a:r>
            <a:endParaRPr lang="en-US" sz="9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365346" y="6411773"/>
            <a:ext cx="152705" cy="152705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3689604" y="6668719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Launch MVP</a:t>
            </a:r>
            <a:endParaRPr lang="en-US" sz="1000" dirty="0"/>
          </a:p>
        </p:txBody>
      </p:sp>
      <p:sp>
        <p:nvSpPr>
          <p:cNvPr id="46" name="Text 33"/>
          <p:cNvSpPr txBox="1"/>
          <p:nvPr/>
        </p:nvSpPr>
        <p:spPr>
          <a:xfrm>
            <a:off x="3689604" y="688817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HIPAA + PCI DSS Live</a:t>
            </a:r>
            <a:endParaRPr lang="en-US" sz="9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673645" y="6411773"/>
            <a:ext cx="152705" cy="152705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935724" y="6668719"/>
            <a:ext cx="1628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10 Paying Customers</a:t>
            </a:r>
            <a:endParaRPr lang="en-US" sz="1000" dirty="0"/>
          </a:p>
        </p:txBody>
      </p:sp>
      <p:sp>
        <p:nvSpPr>
          <p:cNvPr id="49" name="Text 35"/>
          <p:cNvSpPr txBox="1"/>
          <p:nvPr/>
        </p:nvSpPr>
        <p:spPr>
          <a:xfrm>
            <a:off x="6997903" y="688817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Month 3 Milestone</a:t>
            </a:r>
            <a:endParaRPr lang="en-US" sz="900" dirty="0"/>
          </a:p>
        </p:txBody>
      </p:sp>
      <p:sp>
        <p:nvSpPr>
          <p:cNvPr id="50" name="Shape 36"/>
          <p:cNvSpPr/>
          <p:nvPr/>
        </p:nvSpPr>
        <p:spPr>
          <a:xfrm>
            <a:off x="10981944" y="6411773"/>
            <a:ext cx="152705" cy="152705"/>
          </a:xfrm>
          <a:prstGeom prst="ellipse">
            <a:avLst/>
          </a:prstGeom>
          <a:solidFill>
            <a:srgbClr val="0A0F1E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10306202" y="6668719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10306202" y="688817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Year 1 Target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7098" y="2000707"/>
            <a:ext cx="285750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" y="7488936"/>
            <a:ext cx="3685946" cy="192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14807" y="7288682"/>
            <a:ext cx="38011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Validating Product-Market Fit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752551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Founder-Led Sales to Market Leadership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533449"/>
            <a:ext cx="803574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 structured three-phase approach to capture the $8M SOM beachhead and scale.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71500" y="381305"/>
            <a:ext cx="2286000" cy="295351"/>
          </a:xfrm>
          <a:prstGeom prst="roundRect">
            <a:avLst>
              <a:gd name="adj" fmla="val 79896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1500" y="381305"/>
            <a:ext cx="23628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Go-To-Market Strategy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4071823" y="4425696"/>
            <a:ext cx="142646" cy="2286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7977226" y="4425696"/>
            <a:ext cx="142646" cy="228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71500" y="2076602"/>
            <a:ext cx="3238805" cy="4934102"/>
          </a:xfrm>
          <a:prstGeom prst="roundRect">
            <a:avLst>
              <a:gd name="adj" fmla="val 26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-398" b="-398"/>
          <a:stretch/>
        </p:blipFill>
        <p:spPr>
          <a:xfrm>
            <a:off x="580644" y="2085746"/>
            <a:ext cx="3219602" cy="384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80644" y="2124151"/>
            <a:ext cx="3219602" cy="1248156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580644" y="3363163"/>
            <a:ext cx="3219602" cy="9144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819302" y="23810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23544" y="2486254"/>
            <a:ext cx="171907" cy="1719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43254" y="2314346"/>
            <a:ext cx="1314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0A5FA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1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1343254" y="2486254"/>
            <a:ext cx="1325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Beachhead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819302" y="2924251"/>
            <a:ext cx="847649" cy="247802"/>
          </a:xfrm>
          <a:prstGeom prst="roundRect">
            <a:avLst>
              <a:gd name="adj" fmla="val 36900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90956" y="2924251"/>
            <a:ext cx="9052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Months 0 – 6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819302" y="3829507"/>
            <a:ext cx="27432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19302" y="3610051"/>
            <a:ext cx="285292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Key Activities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902" y="3952951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Founder-Led Outbound: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High-touch sales led by CEO Kiel Green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9302" y="3952951"/>
            <a:ext cx="133502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47902" y="4421124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Target Verticals: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Fintech, Healthtech, &amp; Enterprise SaaS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19302" y="4421124"/>
            <a:ext cx="133502" cy="13350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47902" y="4890211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Pilot Programs: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Convert beta users to annual contracts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19302" y="4890211"/>
            <a:ext cx="133502" cy="13350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47902" y="5358384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Direct Integrations: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Leverage AWS/GitHub ecosystem</a:t>
            </a:r>
            <a:endParaRPr lang="en-US" sz="10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19302" y="5358384"/>
            <a:ext cx="133502" cy="133502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819302" y="6017666"/>
            <a:ext cx="2743200" cy="743407"/>
          </a:xfrm>
          <a:prstGeom prst="roundRect">
            <a:avLst>
              <a:gd name="adj" fmla="val 2523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1133856" y="6169457"/>
            <a:ext cx="23746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Milestone Target</a:t>
            </a:r>
            <a:endParaRPr lang="en-US" sz="9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972007" y="6198718"/>
            <a:ext cx="105156" cy="1143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72007" y="6417259"/>
            <a:ext cx="2772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10 Paying Customers &amp; MVP Validation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4476902" y="2076602"/>
            <a:ext cx="3238805" cy="4934102"/>
          </a:xfrm>
          <a:prstGeom prst="roundRect">
            <a:avLst>
              <a:gd name="adj" fmla="val 26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3"/>
          <a:srcRect l="0" r="0" t="-398" b="-398"/>
          <a:stretch/>
        </p:blipFill>
        <p:spPr>
          <a:xfrm>
            <a:off x="4486046" y="2085746"/>
            <a:ext cx="3219602" cy="38405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4486046" y="2124151"/>
            <a:ext cx="3219602" cy="1248156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40" name="Shape 26"/>
          <p:cNvSpPr/>
          <p:nvPr/>
        </p:nvSpPr>
        <p:spPr>
          <a:xfrm>
            <a:off x="4486046" y="3363163"/>
            <a:ext cx="3219602" cy="9144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4724705" y="23810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828946" y="2486254"/>
            <a:ext cx="171907" cy="171907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248656" y="2314346"/>
            <a:ext cx="676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FFFFF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2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5248656" y="2486254"/>
            <a:ext cx="7141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800" dirty="0"/>
          </a:p>
        </p:txBody>
      </p:sp>
      <p:sp>
        <p:nvSpPr>
          <p:cNvPr id="45" name="Shape 30"/>
          <p:cNvSpPr/>
          <p:nvPr/>
        </p:nvSpPr>
        <p:spPr>
          <a:xfrm>
            <a:off x="4724705" y="2924251"/>
            <a:ext cx="866851" cy="247802"/>
          </a:xfrm>
          <a:prstGeom prst="roundRect">
            <a:avLst>
              <a:gd name="adj" fmla="val 36900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1"/>
          <p:cNvSpPr/>
          <p:nvPr/>
        </p:nvSpPr>
        <p:spPr>
          <a:xfrm>
            <a:off x="4695444" y="2924251"/>
            <a:ext cx="9244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Months 6 – 18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4724705" y="3829507"/>
            <a:ext cx="27432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4724705" y="3610051"/>
            <a:ext cx="285292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Key Activities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4953305" y="3952951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Channel Partnerships: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Launch MSP &amp; Consultant portal</a:t>
            </a:r>
            <a:endParaRPr lang="en-US" sz="10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724705" y="3952951"/>
            <a:ext cx="133502" cy="133502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4953305" y="4421124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Cloud Marketplaces: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AWS &amp; Azure Marketplace listing</a:t>
            </a:r>
            <a:endParaRPr lang="en-US" sz="10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724705" y="4421124"/>
            <a:ext cx="133502" cy="133502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4953305" y="4890211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Content Engine: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LinkedIn thought leadership &amp; webinars</a:t>
            </a:r>
            <a:endParaRPr lang="en-US" sz="10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724705" y="4890211"/>
            <a:ext cx="133502" cy="133502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4953305" y="5358384"/>
            <a:ext cx="30367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Sales Team: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Hire first 2 Account Executives</a:t>
            </a:r>
            <a:endParaRPr lang="en-US" sz="1000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4724705" y="5358384"/>
            <a:ext cx="133502" cy="133502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4724705" y="6017666"/>
            <a:ext cx="2743200" cy="743407"/>
          </a:xfrm>
          <a:prstGeom prst="roundRect">
            <a:avLst>
              <a:gd name="adj" fmla="val 2523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8" name="Text 39"/>
          <p:cNvSpPr txBox="1"/>
          <p:nvPr/>
        </p:nvSpPr>
        <p:spPr>
          <a:xfrm>
            <a:off x="5038344" y="6169457"/>
            <a:ext cx="23746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Milestone Target</a:t>
            </a:r>
            <a:endParaRPr lang="en-US" sz="9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9"/>
          <a:srcRect l="-2571" r="-2571" t="0" b="0"/>
          <a:stretch/>
        </p:blipFill>
        <p:spPr>
          <a:xfrm>
            <a:off x="4876495" y="6198718"/>
            <a:ext cx="105156" cy="114300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4876495" y="6417259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$1M+ ARR &amp; SOC 2 Type II Launch</a:t>
            </a:r>
            <a:endParaRPr lang="en-US" sz="900" dirty="0"/>
          </a:p>
        </p:txBody>
      </p:sp>
      <p:sp>
        <p:nvSpPr>
          <p:cNvPr id="61" name="Shape 41"/>
          <p:cNvSpPr/>
          <p:nvPr/>
        </p:nvSpPr>
        <p:spPr>
          <a:xfrm>
            <a:off x="8382305" y="2076602"/>
            <a:ext cx="3238805" cy="4934102"/>
          </a:xfrm>
          <a:prstGeom prst="roundRect">
            <a:avLst>
              <a:gd name="adj" fmla="val 26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20"/>
          <a:srcRect l="0" r="0" t="-398" b="-398"/>
          <a:stretch/>
        </p:blipFill>
        <p:spPr>
          <a:xfrm>
            <a:off x="8391449" y="2085746"/>
            <a:ext cx="3219602" cy="38405"/>
          </a:xfrm>
          <a:prstGeom prst="rect">
            <a:avLst/>
          </a:prstGeom>
        </p:spPr>
      </p:pic>
      <p:sp>
        <p:nvSpPr>
          <p:cNvPr id="63" name="Shape 42"/>
          <p:cNvSpPr/>
          <p:nvPr/>
        </p:nvSpPr>
        <p:spPr>
          <a:xfrm>
            <a:off x="8391449" y="2124151"/>
            <a:ext cx="3219602" cy="1248156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64" name="Shape 43"/>
          <p:cNvSpPr/>
          <p:nvPr/>
        </p:nvSpPr>
        <p:spPr>
          <a:xfrm>
            <a:off x="8391449" y="3363163"/>
            <a:ext cx="3219602" cy="9144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5" name="Shape 44"/>
          <p:cNvSpPr/>
          <p:nvPr/>
        </p:nvSpPr>
        <p:spPr>
          <a:xfrm>
            <a:off x="8630107" y="23810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1"/>
          <a:srcRect l="0" r="0" t="-842" b="-842"/>
          <a:stretch/>
        </p:blipFill>
        <p:spPr>
          <a:xfrm>
            <a:off x="8725205" y="2486254"/>
            <a:ext cx="190195" cy="171907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9153144" y="2314346"/>
            <a:ext cx="1295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A78BFA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3</a:t>
            </a:r>
            <a:endParaRPr lang="en-US" sz="900" dirty="0"/>
          </a:p>
        </p:txBody>
      </p:sp>
      <p:sp>
        <p:nvSpPr>
          <p:cNvPr id="68" name="Text 46"/>
          <p:cNvSpPr txBox="1"/>
          <p:nvPr/>
        </p:nvSpPr>
        <p:spPr>
          <a:xfrm>
            <a:off x="9153144" y="2486254"/>
            <a:ext cx="14511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Leadership</a:t>
            </a:r>
            <a:endParaRPr lang="en-US" sz="1800" dirty="0"/>
          </a:p>
        </p:txBody>
      </p:sp>
      <p:sp>
        <p:nvSpPr>
          <p:cNvPr id="69" name="Shape 47"/>
          <p:cNvSpPr/>
          <p:nvPr/>
        </p:nvSpPr>
        <p:spPr>
          <a:xfrm>
            <a:off x="8630107" y="2924251"/>
            <a:ext cx="743407" cy="247802"/>
          </a:xfrm>
          <a:prstGeom prst="roundRect">
            <a:avLst>
              <a:gd name="adj" fmla="val 36900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48"/>
          <p:cNvSpPr/>
          <p:nvPr/>
        </p:nvSpPr>
        <p:spPr>
          <a:xfrm>
            <a:off x="8600846" y="2924251"/>
            <a:ext cx="8001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Years 2 – 3</a:t>
            </a:r>
            <a:endParaRPr lang="en-US" sz="900" dirty="0"/>
          </a:p>
        </p:txBody>
      </p:sp>
      <p:sp>
        <p:nvSpPr>
          <p:cNvPr id="71" name="Shape 49"/>
          <p:cNvSpPr/>
          <p:nvPr/>
        </p:nvSpPr>
        <p:spPr>
          <a:xfrm>
            <a:off x="8630107" y="3829507"/>
            <a:ext cx="27432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0"/>
          <p:cNvSpPr txBox="1"/>
          <p:nvPr/>
        </p:nvSpPr>
        <p:spPr>
          <a:xfrm>
            <a:off x="8630107" y="3610051"/>
            <a:ext cx="285292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Key Activities</a:t>
            </a:r>
            <a:endParaRPr lang="en-US" sz="900" dirty="0"/>
          </a:p>
        </p:txBody>
      </p:sp>
      <p:sp>
        <p:nvSpPr>
          <p:cNvPr id="73" name="Text 51"/>
          <p:cNvSpPr txBox="1"/>
          <p:nvPr/>
        </p:nvSpPr>
        <p:spPr>
          <a:xfrm>
            <a:off x="8858707" y="3952951"/>
            <a:ext cx="3001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Product Moat: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Launch AI Auditor Copilot</a:t>
            </a:r>
            <a:endParaRPr lang="en-US" sz="1000" dirty="0"/>
          </a:p>
        </p:txBody>
      </p:sp>
      <p:pic>
        <p:nvPicPr>
          <p:cNvPr id="74" name="Image 20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630107" y="3952951"/>
            <a:ext cx="133502" cy="133502"/>
          </a:xfrm>
          <a:prstGeom prst="rect">
            <a:avLst/>
          </a:prstGeom>
        </p:spPr>
      </p:pic>
      <p:sp>
        <p:nvSpPr>
          <p:cNvPr id="75" name="Text 52"/>
          <p:cNvSpPr txBox="1"/>
          <p:nvPr/>
        </p:nvSpPr>
        <p:spPr>
          <a:xfrm>
            <a:off x="8858707" y="4234586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Expansion: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Enter European market (GDPR/NIS2)</a:t>
            </a:r>
            <a:endParaRPr lang="en-US" sz="1000" dirty="0"/>
          </a:p>
        </p:txBody>
      </p:sp>
      <p:pic>
        <p:nvPicPr>
          <p:cNvPr id="76" name="Image 21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8630107" y="4234586"/>
            <a:ext cx="133502" cy="133502"/>
          </a:xfrm>
          <a:prstGeom prst="rect">
            <a:avLst/>
          </a:prstGeom>
        </p:spPr>
      </p:pic>
      <p:sp>
        <p:nvSpPr>
          <p:cNvPr id="77" name="Text 53"/>
          <p:cNvSpPr txBox="1"/>
          <p:nvPr/>
        </p:nvSpPr>
        <p:spPr>
          <a:xfrm>
            <a:off x="8858707" y="4703674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Government: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FedRAMP certification readiness</a:t>
            </a:r>
            <a:endParaRPr lang="en-US" sz="1000" dirty="0"/>
          </a:p>
        </p:txBody>
      </p:sp>
      <p:pic>
        <p:nvPicPr>
          <p:cNvPr id="78" name="Image 22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630107" y="4703674"/>
            <a:ext cx="133502" cy="133502"/>
          </a:xfrm>
          <a:prstGeom prst="rect">
            <a:avLst/>
          </a:prstGeom>
        </p:spPr>
      </p:pic>
      <p:sp>
        <p:nvSpPr>
          <p:cNvPr id="79" name="Text 54"/>
          <p:cNvSpPr txBox="1"/>
          <p:nvPr/>
        </p:nvSpPr>
        <p:spPr>
          <a:xfrm>
            <a:off x="8858707" y="5171846"/>
            <a:ext cx="2591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Category Definition: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Establish "Continuous Remediation"</a:t>
            </a:r>
            <a:endParaRPr lang="en-US" sz="1000" dirty="0"/>
          </a:p>
        </p:txBody>
      </p:sp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8630107" y="5171846"/>
            <a:ext cx="133502" cy="133502"/>
          </a:xfrm>
          <a:prstGeom prst="rect">
            <a:avLst/>
          </a:prstGeom>
        </p:spPr>
      </p:pic>
      <p:sp>
        <p:nvSpPr>
          <p:cNvPr id="81" name="Shape 55"/>
          <p:cNvSpPr/>
          <p:nvPr/>
        </p:nvSpPr>
        <p:spPr>
          <a:xfrm>
            <a:off x="8630107" y="6017666"/>
            <a:ext cx="2743200" cy="743407"/>
          </a:xfrm>
          <a:prstGeom prst="roundRect">
            <a:avLst>
              <a:gd name="adj" fmla="val 2523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2" name="Text 56"/>
          <p:cNvSpPr txBox="1"/>
          <p:nvPr/>
        </p:nvSpPr>
        <p:spPr>
          <a:xfrm>
            <a:off x="8943746" y="6169457"/>
            <a:ext cx="23746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Milestone Target</a:t>
            </a:r>
            <a:endParaRPr lang="en-US" sz="900" dirty="0"/>
          </a:p>
        </p:txBody>
      </p:sp>
      <p:pic>
        <p:nvPicPr>
          <p:cNvPr id="83" name="Image 24" descr="preencoded.png">    </p:cNvPr>
          <p:cNvPicPr>
            <a:picLocks noChangeAspect="1"/>
          </p:cNvPicPr>
          <p:nvPr/>
        </p:nvPicPr>
        <p:blipFill>
          <a:blip r:embed="rId26"/>
          <a:srcRect l="-2571" r="-2571" t="0" b="0"/>
          <a:stretch/>
        </p:blipFill>
        <p:spPr>
          <a:xfrm>
            <a:off x="8781898" y="6198718"/>
            <a:ext cx="105156" cy="114300"/>
          </a:xfrm>
          <a:prstGeom prst="rect">
            <a:avLst/>
          </a:prstGeom>
        </p:spPr>
      </p:pic>
      <p:sp>
        <p:nvSpPr>
          <p:cNvPr id="84" name="Text 57"/>
          <p:cNvSpPr txBox="1"/>
          <p:nvPr/>
        </p:nvSpPr>
        <p:spPr>
          <a:xfrm>
            <a:off x="8781898" y="6417259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$5M+ ARR &amp; Series A Funding</a:t>
            </a:r>
            <a:endParaRPr lang="en-US" sz="900" dirty="0"/>
          </a:p>
        </p:txBody>
      </p:sp>
      <p:sp>
        <p:nvSpPr>
          <p:cNvPr id="85" name="Shape 58"/>
          <p:cNvSpPr/>
          <p:nvPr/>
        </p:nvSpPr>
        <p:spPr>
          <a:xfrm>
            <a:off x="4088282" y="7488936"/>
            <a:ext cx="3685946" cy="1920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6" name="Text 59"/>
          <p:cNvSpPr txBox="1"/>
          <p:nvPr/>
        </p:nvSpPr>
        <p:spPr>
          <a:xfrm>
            <a:off x="4031590" y="7288682"/>
            <a:ext cx="38011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Distribution Engine</a:t>
            </a:r>
            <a:endParaRPr lang="en-US" sz="1000" dirty="0"/>
          </a:p>
        </p:txBody>
      </p:sp>
      <p:sp>
        <p:nvSpPr>
          <p:cNvPr id="87" name="Shape 60"/>
          <p:cNvSpPr/>
          <p:nvPr/>
        </p:nvSpPr>
        <p:spPr>
          <a:xfrm>
            <a:off x="7605065" y="7488936"/>
            <a:ext cx="3685946" cy="1920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8" name="Text 61"/>
          <p:cNvSpPr txBox="1"/>
          <p:nvPr/>
        </p:nvSpPr>
        <p:spPr>
          <a:xfrm>
            <a:off x="7548372" y="7288682"/>
            <a:ext cx="38011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Dominating Category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752551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MVP to AI-Native Compliance Platform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71500" y="381305"/>
            <a:ext cx="1790395" cy="295351"/>
          </a:xfrm>
          <a:prstGeom prst="roundRect">
            <a:avLst>
              <a:gd name="adj" fmla="val 79896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" y="381305"/>
            <a:ext cx="186263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1500" y="1638605"/>
            <a:ext cx="3866998" cy="4839005"/>
          </a:xfrm>
          <a:prstGeom prst="roundRect">
            <a:avLst>
              <a:gd name="adj" fmla="val 233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2563eb">
                <a:alpha val="5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19379" y="18288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MVP Launch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2657246"/>
            <a:ext cx="2619756" cy="3819449"/>
          </a:xfrm>
          <a:prstGeom prst="roundRect">
            <a:avLst>
              <a:gd name="adj" fmla="val 30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2657246"/>
            <a:ext cx="2619756" cy="28346"/>
          </a:xfrm>
          <a:prstGeom prst="roundRect">
            <a:avLst>
              <a:gd name="adj" fmla="val 28152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1754" y="2876702"/>
            <a:ext cx="23088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LIVE NOW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1754" y="2916936"/>
            <a:ext cx="75895" cy="758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1754" y="3700577"/>
            <a:ext cx="2219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1754" y="3109874"/>
            <a:ext cx="230886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71754" y="3433572"/>
            <a:ext cx="23088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HIPAA + PCI DSS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00354" y="3853282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Automated Evidence Collection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6800" r="-16800" t="0" b="0"/>
          <a:stretch/>
        </p:blipFill>
        <p:spPr>
          <a:xfrm>
            <a:off x="771754" y="3871570"/>
            <a:ext cx="152705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0354" y="4140403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Risk Detection Engine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16800" r="-16800" t="0" b="0"/>
          <a:stretch/>
        </p:blipFill>
        <p:spPr>
          <a:xfrm>
            <a:off x="771754" y="4159606"/>
            <a:ext cx="152705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0354" y="4428439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Compliance Dashboards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16800" r="-16800" t="0" b="0"/>
          <a:stretch/>
        </p:blipFill>
        <p:spPr>
          <a:xfrm>
            <a:off x="771754" y="4447642"/>
            <a:ext cx="152705" cy="1143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71754" y="5609844"/>
            <a:ext cx="437998" cy="219456"/>
          </a:xfrm>
          <a:prstGeom prst="roundRect">
            <a:avLst>
              <a:gd name="adj" fmla="val 14492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1754" y="5609844"/>
            <a:ext cx="4956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HIPAA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1259129" y="5609844"/>
            <a:ext cx="523951" cy="219456"/>
          </a:xfrm>
          <a:prstGeom prst="roundRect">
            <a:avLst>
              <a:gd name="adj" fmla="val 14492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259129" y="5609844"/>
            <a:ext cx="581558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PCI DSS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771754" y="5971946"/>
            <a:ext cx="22192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771754" y="6124651"/>
            <a:ext cx="190195" cy="152705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17" b="-1017"/>
          <a:stretch/>
        </p:blipFill>
        <p:spPr>
          <a:xfrm>
            <a:off x="1057046" y="6124651"/>
            <a:ext cx="142646" cy="152705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1613" r="-1613" t="0" b="0"/>
          <a:stretch/>
        </p:blipFill>
        <p:spPr>
          <a:xfrm>
            <a:off x="1295705" y="6124651"/>
            <a:ext cx="152705" cy="152705"/>
          </a:xfrm>
          <a:prstGeom prst="rect">
            <a:avLst/>
          </a:prstGeom>
        </p:spPr>
      </p:pic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1543507" y="6124651"/>
            <a:ext cx="133502" cy="15270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3329330" y="18288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Year 1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3381451" y="2657246"/>
            <a:ext cx="2619756" cy="3819449"/>
          </a:xfrm>
          <a:prstGeom prst="roundRect">
            <a:avLst>
              <a:gd name="adj" fmla="val 30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3381451" y="2657246"/>
            <a:ext cx="2619756" cy="28346"/>
          </a:xfrm>
          <a:prstGeom prst="roundRect">
            <a:avLst>
              <a:gd name="adj" fmla="val 2815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3753612" y="2876702"/>
            <a:ext cx="21369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2563E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 DEV</a:t>
            </a:r>
            <a:endParaRPr lang="en-US" sz="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1677" r="-1677" t="0" b="0"/>
          <a:stretch/>
        </p:blipFill>
        <p:spPr>
          <a:xfrm>
            <a:off x="3581705" y="2902306"/>
            <a:ext cx="95098" cy="105156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3581705" y="3700577"/>
            <a:ext cx="2219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3581705" y="3109874"/>
            <a:ext cx="230886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3581705" y="3433572"/>
            <a:ext cx="23088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SOC 2 + ISO 27001</a:t>
            </a:r>
            <a:endParaRPr lang="en-US" sz="900" dirty="0"/>
          </a:p>
        </p:txBody>
      </p:sp>
      <p:sp>
        <p:nvSpPr>
          <p:cNvPr id="39" name="Text 27"/>
          <p:cNvSpPr txBox="1"/>
          <p:nvPr/>
        </p:nvSpPr>
        <p:spPr>
          <a:xfrm>
            <a:off x="3810305" y="3853282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Cross-Framework Mapping</a:t>
            </a:r>
            <a:endParaRPr lang="en-US" sz="9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-9378" r="-9378" t="0" b="0"/>
          <a:stretch/>
        </p:blipFill>
        <p:spPr>
          <a:xfrm>
            <a:off x="3581705" y="3871570"/>
            <a:ext cx="152705" cy="1143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3810305" y="4140403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External Auditor Portal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-9378" r="-9378" t="0" b="0"/>
          <a:stretch/>
        </p:blipFill>
        <p:spPr>
          <a:xfrm>
            <a:off x="3581705" y="4159606"/>
            <a:ext cx="152705" cy="11430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3810305" y="4428439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MSP Partner Dashboard</a:t>
            </a:r>
            <a:endParaRPr lang="en-US" sz="9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-9378" r="-9378" t="0" b="0"/>
          <a:stretch/>
        </p:blipFill>
        <p:spPr>
          <a:xfrm>
            <a:off x="3581705" y="4447642"/>
            <a:ext cx="152705" cy="114300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3581705" y="5591556"/>
            <a:ext cx="448056" cy="219456"/>
          </a:xfrm>
          <a:prstGeom prst="roundRect">
            <a:avLst>
              <a:gd name="adj" fmla="val 14492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6" name="Text 31"/>
          <p:cNvSpPr txBox="1"/>
          <p:nvPr/>
        </p:nvSpPr>
        <p:spPr>
          <a:xfrm>
            <a:off x="3581705" y="5591556"/>
            <a:ext cx="505663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SOC 2</a:t>
            </a:r>
            <a:endParaRPr lang="en-US" sz="800" dirty="0"/>
          </a:p>
        </p:txBody>
      </p:sp>
      <p:sp>
        <p:nvSpPr>
          <p:cNvPr id="47" name="Shape 32"/>
          <p:cNvSpPr/>
          <p:nvPr/>
        </p:nvSpPr>
        <p:spPr>
          <a:xfrm>
            <a:off x="4084625" y="5591556"/>
            <a:ext cx="599846" cy="219456"/>
          </a:xfrm>
          <a:prstGeom prst="roundRect">
            <a:avLst>
              <a:gd name="adj" fmla="val 14492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4084625" y="5591556"/>
            <a:ext cx="6574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ISO 27001</a:t>
            </a:r>
            <a:endParaRPr lang="en-US" sz="800" dirty="0"/>
          </a:p>
        </p:txBody>
      </p:sp>
      <p:sp>
        <p:nvSpPr>
          <p:cNvPr id="49" name="Shape 34"/>
          <p:cNvSpPr/>
          <p:nvPr/>
        </p:nvSpPr>
        <p:spPr>
          <a:xfrm>
            <a:off x="3581705" y="5952744"/>
            <a:ext cx="22192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6336" b="-6336"/>
          <a:stretch/>
        </p:blipFill>
        <p:spPr>
          <a:xfrm>
            <a:off x="3581705" y="6105449"/>
            <a:ext cx="133502" cy="171907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3810305" y="6105449"/>
            <a:ext cx="114482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+ Azure Integration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6139282" y="18288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Year 2</a:t>
            </a:r>
            <a:endParaRPr lang="en-US" sz="1200" dirty="0"/>
          </a:p>
        </p:txBody>
      </p:sp>
      <p:sp>
        <p:nvSpPr>
          <p:cNvPr id="53" name="Shape 37"/>
          <p:cNvSpPr/>
          <p:nvPr/>
        </p:nvSpPr>
        <p:spPr>
          <a:xfrm>
            <a:off x="6191402" y="2657246"/>
            <a:ext cx="2619756" cy="3819449"/>
          </a:xfrm>
          <a:prstGeom prst="roundRect">
            <a:avLst>
              <a:gd name="adj" fmla="val 30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Shape 38"/>
          <p:cNvSpPr/>
          <p:nvPr/>
        </p:nvSpPr>
        <p:spPr>
          <a:xfrm>
            <a:off x="6191402" y="2657246"/>
            <a:ext cx="2619756" cy="28346"/>
          </a:xfrm>
          <a:prstGeom prst="roundRect">
            <a:avLst>
              <a:gd name="adj" fmla="val 281529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5" name="Text 39"/>
          <p:cNvSpPr txBox="1"/>
          <p:nvPr/>
        </p:nvSpPr>
        <p:spPr>
          <a:xfrm>
            <a:off x="6581851" y="2876702"/>
            <a:ext cx="21186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8B5CF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PLANNED</a:t>
            </a:r>
            <a:endParaRPr lang="en-US" sz="80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rcRect l="-4348" r="-4348" t="0" b="0"/>
          <a:stretch/>
        </p:blipFill>
        <p:spPr>
          <a:xfrm>
            <a:off x="6391656" y="2902306"/>
            <a:ext cx="114300" cy="105156"/>
          </a:xfrm>
          <a:prstGeom prst="rect">
            <a:avLst/>
          </a:prstGeom>
        </p:spPr>
      </p:pic>
      <p:sp>
        <p:nvSpPr>
          <p:cNvPr id="57" name="Shape 40"/>
          <p:cNvSpPr/>
          <p:nvPr/>
        </p:nvSpPr>
        <p:spPr>
          <a:xfrm>
            <a:off x="6391656" y="3700577"/>
            <a:ext cx="2219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6391656" y="3109874"/>
            <a:ext cx="230886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Intelligence</a:t>
            </a:r>
            <a:endParaRPr lang="en-US" sz="1500" dirty="0"/>
          </a:p>
        </p:txBody>
      </p:sp>
      <p:sp>
        <p:nvSpPr>
          <p:cNvPr id="59" name="Text 42"/>
          <p:cNvSpPr txBox="1"/>
          <p:nvPr/>
        </p:nvSpPr>
        <p:spPr>
          <a:xfrm>
            <a:off x="6391656" y="3433572"/>
            <a:ext cx="23088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Auditor + FedRAMP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6620256" y="3853282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Auditor Copilot</a:t>
            </a:r>
            <a:endParaRPr lang="en-US" sz="9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rcRect l="-3440" r="-3440" t="0" b="0"/>
          <a:stretch/>
        </p:blipFill>
        <p:spPr>
          <a:xfrm>
            <a:off x="6391656" y="3871570"/>
            <a:ext cx="152705" cy="114300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6620256" y="4140403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Regulatory Q&amp;A Automation</a:t>
            </a:r>
            <a:endParaRPr lang="en-US" sz="9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rcRect l="-3440" r="-3440" t="0" b="0"/>
          <a:stretch/>
        </p:blipFill>
        <p:spPr>
          <a:xfrm>
            <a:off x="6391656" y="4159606"/>
            <a:ext cx="152705" cy="114300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6620256" y="4428439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Predictive Compliance</a:t>
            </a:r>
            <a:endParaRPr lang="en-US" sz="900" dirty="0"/>
          </a:p>
        </p:txBody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rcRect l="-16800" r="-16800" t="0" b="0"/>
          <a:stretch/>
        </p:blipFill>
        <p:spPr>
          <a:xfrm>
            <a:off x="6391656" y="4447642"/>
            <a:ext cx="152705" cy="114300"/>
          </a:xfrm>
          <a:prstGeom prst="rect">
            <a:avLst/>
          </a:prstGeom>
        </p:spPr>
      </p:pic>
      <p:sp>
        <p:nvSpPr>
          <p:cNvPr id="66" name="Shape 46"/>
          <p:cNvSpPr/>
          <p:nvPr/>
        </p:nvSpPr>
        <p:spPr>
          <a:xfrm>
            <a:off x="6391656" y="6057900"/>
            <a:ext cx="590702" cy="219456"/>
          </a:xfrm>
          <a:prstGeom prst="roundRect">
            <a:avLst>
              <a:gd name="adj" fmla="val 14492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7" name="Text 47"/>
          <p:cNvSpPr txBox="1"/>
          <p:nvPr/>
        </p:nvSpPr>
        <p:spPr>
          <a:xfrm>
            <a:off x="6391656" y="6057900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FedRAMP</a:t>
            </a:r>
            <a:endParaRPr lang="en-US" sz="800" dirty="0"/>
          </a:p>
        </p:txBody>
      </p:sp>
      <p:sp>
        <p:nvSpPr>
          <p:cNvPr id="68" name="Shape 48"/>
          <p:cNvSpPr/>
          <p:nvPr/>
        </p:nvSpPr>
        <p:spPr>
          <a:xfrm>
            <a:off x="7037222" y="6057900"/>
            <a:ext cx="418795" cy="219456"/>
          </a:xfrm>
          <a:prstGeom prst="roundRect">
            <a:avLst>
              <a:gd name="adj" fmla="val 14492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9" name="Text 49"/>
          <p:cNvSpPr txBox="1"/>
          <p:nvPr/>
        </p:nvSpPr>
        <p:spPr>
          <a:xfrm>
            <a:off x="7037222" y="6057900"/>
            <a:ext cx="4764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GDPR</a:t>
            </a:r>
            <a:endParaRPr lang="en-US" sz="800" dirty="0"/>
          </a:p>
        </p:txBody>
      </p:sp>
      <p:sp>
        <p:nvSpPr>
          <p:cNvPr id="70" name="Text 50"/>
          <p:cNvSpPr txBox="1"/>
          <p:nvPr/>
        </p:nvSpPr>
        <p:spPr>
          <a:xfrm>
            <a:off x="8948318" y="18288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Year 3</a:t>
            </a:r>
            <a:endParaRPr lang="en-US" sz="1200" dirty="0"/>
          </a:p>
        </p:txBody>
      </p:sp>
      <p:sp>
        <p:nvSpPr>
          <p:cNvPr id="71" name="Shape 51"/>
          <p:cNvSpPr/>
          <p:nvPr/>
        </p:nvSpPr>
        <p:spPr>
          <a:xfrm>
            <a:off x="9001354" y="2657246"/>
            <a:ext cx="2619756" cy="3819449"/>
          </a:xfrm>
          <a:prstGeom prst="roundRect">
            <a:avLst>
              <a:gd name="adj" fmla="val 30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2" name="Shape 52"/>
          <p:cNvSpPr/>
          <p:nvPr/>
        </p:nvSpPr>
        <p:spPr>
          <a:xfrm>
            <a:off x="9001354" y="2657246"/>
            <a:ext cx="2619756" cy="28346"/>
          </a:xfrm>
          <a:prstGeom prst="roundRect">
            <a:avLst>
              <a:gd name="adj" fmla="val 281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3" name="Text 53"/>
          <p:cNvSpPr txBox="1"/>
          <p:nvPr/>
        </p:nvSpPr>
        <p:spPr>
          <a:xfrm>
            <a:off x="9373514" y="2876702"/>
            <a:ext cx="21369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VISION</a:t>
            </a:r>
            <a:endParaRPr lang="en-US" sz="800" dirty="0"/>
          </a:p>
        </p:txBody>
      </p:sp>
      <p:pic>
        <p:nvPicPr>
          <p:cNvPr id="74" name="Image 18" descr="preencoded.png">    </p:cNvPr>
          <p:cNvPicPr>
            <a:picLocks noChangeAspect="1"/>
          </p:cNvPicPr>
          <p:nvPr/>
        </p:nvPicPr>
        <p:blipFill>
          <a:blip r:embed="rId19"/>
          <a:srcRect l="-1677" r="-1677" t="0" b="0"/>
          <a:stretch/>
        </p:blipFill>
        <p:spPr>
          <a:xfrm>
            <a:off x="9201607" y="2902306"/>
            <a:ext cx="95098" cy="105156"/>
          </a:xfrm>
          <a:prstGeom prst="rect">
            <a:avLst/>
          </a:prstGeom>
        </p:spPr>
      </p:pic>
      <p:sp>
        <p:nvSpPr>
          <p:cNvPr id="75" name="Shape 54"/>
          <p:cNvSpPr/>
          <p:nvPr/>
        </p:nvSpPr>
        <p:spPr>
          <a:xfrm>
            <a:off x="9201607" y="3700577"/>
            <a:ext cx="2219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55"/>
          <p:cNvSpPr txBox="1"/>
          <p:nvPr/>
        </p:nvSpPr>
        <p:spPr>
          <a:xfrm>
            <a:off x="9201607" y="3109874"/>
            <a:ext cx="230886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</a:t>
            </a:r>
            <a:endParaRPr lang="en-US" sz="1500" dirty="0"/>
          </a:p>
        </p:txBody>
      </p:sp>
      <p:sp>
        <p:nvSpPr>
          <p:cNvPr id="77" name="Text 56"/>
          <p:cNvSpPr txBox="1"/>
          <p:nvPr/>
        </p:nvSpPr>
        <p:spPr>
          <a:xfrm>
            <a:off x="9201607" y="3433572"/>
            <a:ext cx="23088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Self-Healing Platform</a:t>
            </a:r>
            <a:endParaRPr lang="en-US" sz="900" dirty="0"/>
          </a:p>
        </p:txBody>
      </p:sp>
      <p:sp>
        <p:nvSpPr>
          <p:cNvPr id="78" name="Text 57"/>
          <p:cNvSpPr txBox="1"/>
          <p:nvPr/>
        </p:nvSpPr>
        <p:spPr>
          <a:xfrm>
            <a:off x="9430207" y="3853282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Self-Healing Compliance</a:t>
            </a:r>
            <a:endParaRPr lang="en-US" sz="900" dirty="0"/>
          </a:p>
        </p:txBody>
      </p:sp>
      <p:pic>
        <p:nvPicPr>
          <p:cNvPr id="79" name="Image 19" descr="preencoded.png">    </p:cNvPr>
          <p:cNvPicPr>
            <a:picLocks noChangeAspect="1"/>
          </p:cNvPicPr>
          <p:nvPr/>
        </p:nvPicPr>
        <p:blipFill>
          <a:blip r:embed="rId20"/>
          <a:srcRect l="-16800" r="-16800" t="0" b="0"/>
          <a:stretch/>
        </p:blipFill>
        <p:spPr>
          <a:xfrm>
            <a:off x="9201607" y="3871570"/>
            <a:ext cx="152705" cy="114300"/>
          </a:xfrm>
          <a:prstGeom prst="rect">
            <a:avLst/>
          </a:prstGeom>
        </p:spPr>
      </p:pic>
      <p:sp>
        <p:nvSpPr>
          <p:cNvPr id="80" name="Text 58"/>
          <p:cNvSpPr txBox="1"/>
          <p:nvPr/>
        </p:nvSpPr>
        <p:spPr>
          <a:xfrm>
            <a:off x="9430207" y="4140403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Copilot v2.0</a:t>
            </a:r>
            <a:endParaRPr lang="en-US" sz="900" dirty="0"/>
          </a:p>
        </p:txBody>
      </p:sp>
      <p:pic>
        <p:nvPicPr>
          <p:cNvPr id="81" name="Image 20" descr="preencoded.png">    </p:cNvPr>
          <p:cNvPicPr>
            <a:picLocks noChangeAspect="1"/>
          </p:cNvPicPr>
          <p:nvPr/>
        </p:nvPicPr>
        <p:blipFill>
          <a:blip r:embed="rId21"/>
          <a:srcRect l="-16800" r="-16800" t="0" b="0"/>
          <a:stretch/>
        </p:blipFill>
        <p:spPr>
          <a:xfrm>
            <a:off x="9201607" y="4159606"/>
            <a:ext cx="152705" cy="114300"/>
          </a:xfrm>
          <a:prstGeom prst="rect">
            <a:avLst/>
          </a:prstGeom>
        </p:spPr>
      </p:pic>
      <p:sp>
        <p:nvSpPr>
          <p:cNvPr id="82" name="Text 59"/>
          <p:cNvSpPr txBox="1"/>
          <p:nvPr/>
        </p:nvSpPr>
        <p:spPr>
          <a:xfrm>
            <a:off x="9430207" y="4428439"/>
            <a:ext cx="20802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International Frameworks</a:t>
            </a:r>
            <a:endParaRPr lang="en-US" sz="900" dirty="0"/>
          </a:p>
        </p:txBody>
      </p:sp>
      <p:pic>
        <p:nvPicPr>
          <p:cNvPr id="83" name="Image 21" descr="preencoded.png">    </p:cNvPr>
          <p:cNvPicPr>
            <a:picLocks noChangeAspect="1"/>
          </p:cNvPicPr>
          <p:nvPr/>
        </p:nvPicPr>
        <p:blipFill>
          <a:blip r:embed="rId22"/>
          <a:srcRect l="-16800" r="-16800" t="0" b="0"/>
          <a:stretch/>
        </p:blipFill>
        <p:spPr>
          <a:xfrm>
            <a:off x="9201607" y="4447642"/>
            <a:ext cx="152705" cy="114300"/>
          </a:xfrm>
          <a:prstGeom prst="rect">
            <a:avLst/>
          </a:prstGeom>
        </p:spPr>
      </p:pic>
      <p:sp>
        <p:nvSpPr>
          <p:cNvPr id="84" name="Shape 60"/>
          <p:cNvSpPr/>
          <p:nvPr/>
        </p:nvSpPr>
        <p:spPr>
          <a:xfrm>
            <a:off x="9201607" y="6057900"/>
            <a:ext cx="571500" cy="219456"/>
          </a:xfrm>
          <a:prstGeom prst="roundRect">
            <a:avLst>
              <a:gd name="adj" fmla="val 14492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5" name="Text 61"/>
          <p:cNvSpPr txBox="1"/>
          <p:nvPr/>
        </p:nvSpPr>
        <p:spPr>
          <a:xfrm>
            <a:off x="9201607" y="6057900"/>
            <a:ext cx="6291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Series A</a:t>
            </a:r>
            <a:endParaRPr lang="en-US" sz="800" dirty="0"/>
          </a:p>
        </p:txBody>
      </p:sp>
      <p:sp>
        <p:nvSpPr>
          <p:cNvPr id="86" name="Shape 62"/>
          <p:cNvSpPr/>
          <p:nvPr/>
        </p:nvSpPr>
        <p:spPr>
          <a:xfrm>
            <a:off x="9823399" y="6057900"/>
            <a:ext cx="847649" cy="219456"/>
          </a:xfrm>
          <a:prstGeom prst="roundRect">
            <a:avLst>
              <a:gd name="adj" fmla="val 14492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7" name="Text 63"/>
          <p:cNvSpPr txBox="1"/>
          <p:nvPr/>
        </p:nvSpPr>
        <p:spPr>
          <a:xfrm>
            <a:off x="9823399" y="6057900"/>
            <a:ext cx="9052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Global Scale</a:t>
            </a:r>
            <a:endParaRPr lang="en-US" sz="800" dirty="0"/>
          </a:p>
        </p:txBody>
      </p:sp>
      <p:pic>
        <p:nvPicPr>
          <p:cNvPr id="8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401" b="-401"/>
          <a:stretch/>
        </p:blipFill>
        <p:spPr>
          <a:xfrm>
            <a:off x="571500" y="2066544"/>
            <a:ext cx="11048695" cy="38405"/>
          </a:xfrm>
          <a:prstGeom prst="rect">
            <a:avLst/>
          </a:prstGeom>
        </p:spPr>
      </p:pic>
      <p:pic>
        <p:nvPicPr>
          <p:cNvPr id="8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785823" y="2180844"/>
            <a:ext cx="190195" cy="190195"/>
          </a:xfrm>
          <a:prstGeom prst="rect">
            <a:avLst/>
          </a:prstGeom>
        </p:spPr>
      </p:pic>
      <p:pic>
        <p:nvPicPr>
          <p:cNvPr id="90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4595774" y="2180844"/>
            <a:ext cx="190195" cy="190195"/>
          </a:xfrm>
          <a:prstGeom prst="rect">
            <a:avLst/>
          </a:prstGeom>
        </p:spPr>
      </p:pic>
      <p:sp>
        <p:nvSpPr>
          <p:cNvPr id="91" name="Shape 64"/>
          <p:cNvSpPr/>
          <p:nvPr/>
        </p:nvSpPr>
        <p:spPr>
          <a:xfrm>
            <a:off x="7405726" y="2180844"/>
            <a:ext cx="190195" cy="190195"/>
          </a:xfrm>
          <a:prstGeom prst="ellipse">
            <a:avLst/>
          </a:prstGeom>
          <a:solidFill>
            <a:srgbClr val="0A0F1E"/>
          </a:solidFill>
          <a:ln w="38100">
            <a:solidFill>
              <a:srgbClr val="475569"/>
            </a:solidFill>
            <a:prstDash val="solid"/>
          </a:ln>
        </p:spPr>
      </p:sp>
      <p:sp>
        <p:nvSpPr>
          <p:cNvPr id="92" name="Shape 65"/>
          <p:cNvSpPr/>
          <p:nvPr/>
        </p:nvSpPr>
        <p:spPr>
          <a:xfrm>
            <a:off x="10215677" y="2180844"/>
            <a:ext cx="190195" cy="190195"/>
          </a:xfrm>
          <a:prstGeom prst="ellipse">
            <a:avLst/>
          </a:prstGeom>
          <a:solidFill>
            <a:srgbClr val="0A0F1E"/>
          </a:solidFill>
          <a:ln w="381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6574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Path to $5.3M ARR in Year 3</a:t>
            </a:r>
            <a:endParaRPr lang="en-US" sz="3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571500" y="1543507"/>
            <a:ext cx="7276795" cy="538124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58054" y="1076249"/>
            <a:ext cx="2857500" cy="28575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9302" y="1790395"/>
            <a:ext cx="43534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 (ARR) Growth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4830775" y="1886407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983480" y="1848002"/>
            <a:ext cx="7031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Basic ($10K)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5709514" y="1886407"/>
            <a:ext cx="95098" cy="9509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861304" y="1848002"/>
            <a:ext cx="6236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 ($50K)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521501" y="1886407"/>
            <a:ext cx="95098" cy="9509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74206" y="1848002"/>
            <a:ext cx="11109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Enterprise ($85K+)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819302" y="2266798"/>
            <a:ext cx="6782105" cy="441015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29600" y="1543507"/>
            <a:ext cx="3390595" cy="1666951"/>
          </a:xfrm>
          <a:prstGeom prst="roundRect">
            <a:avLst>
              <a:gd name="adj" fmla="val 752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0" y="1543507"/>
            <a:ext cx="38405" cy="1647749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429854" y="174284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8510321" y="1837944"/>
            <a:ext cx="219456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29854" y="2238451"/>
            <a:ext cx="3105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Year 1</a:t>
            </a:r>
            <a:endParaRPr lang="en-US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8429854" y="2581351"/>
            <a:ext cx="3105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Profitability Target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8429854" y="2838298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Achieved via low CAC founder-led sales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8229600" y="3400654"/>
            <a:ext cx="3390595" cy="1666951"/>
          </a:xfrm>
          <a:prstGeom prst="roundRect">
            <a:avLst>
              <a:gd name="adj" fmla="val 752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229600" y="3400654"/>
            <a:ext cx="38405" cy="16477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429854" y="360090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24951" y="3696005"/>
            <a:ext cx="190195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429854" y="4095598"/>
            <a:ext cx="3105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120%+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8429854" y="4438498"/>
            <a:ext cx="3105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Net Revenue Retention (NRR)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429854" y="4695444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Driven by multi-framework expansion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8229600" y="5257800"/>
            <a:ext cx="3390595" cy="1666951"/>
          </a:xfrm>
          <a:prstGeom prst="roundRect">
            <a:avLst>
              <a:gd name="adj" fmla="val 752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229600" y="5257800"/>
            <a:ext cx="38405" cy="1647749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429854" y="545805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501177" y="5553151"/>
            <a:ext cx="237744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429854" y="5952744"/>
            <a:ext cx="3105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8:1</a:t>
            </a:r>
            <a:endParaRPr lang="en-US" sz="2400" dirty="0"/>
          </a:p>
        </p:txBody>
      </p:sp>
      <p:sp>
        <p:nvSpPr>
          <p:cNvPr id="35" name="Text 26"/>
          <p:cNvSpPr txBox="1"/>
          <p:nvPr/>
        </p:nvSpPr>
        <p:spPr>
          <a:xfrm>
            <a:off x="8429854" y="6295644"/>
            <a:ext cx="3105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LTV / CAC Ratio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8429854" y="6553505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High efficiency unit economics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-952805" y="4000500"/>
            <a:ext cx="3810305" cy="381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858500" y="381305"/>
            <a:ext cx="952805" cy="9144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802161" y="381305"/>
            <a:ext cx="9144" cy="952805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1500" y="381305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Team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657454"/>
            <a:ext cx="123444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by Compliance Experts Who've Lived the Pain</a:t>
            </a:r>
            <a:endParaRPr lang="en-US" sz="3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9" b="-9"/>
          <a:stretch/>
        </p:blipFill>
        <p:spPr>
          <a:xfrm>
            <a:off x="7589520" y="1543507"/>
            <a:ext cx="4030675" cy="22439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85125" y="1733702"/>
            <a:ext cx="3467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Strategic Approach 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18120" y="1776679"/>
            <a:ext cx="171907" cy="17190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046720" y="2133295"/>
            <a:ext cx="3467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Domain-Led Product: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Building solutions for specific pain points experienced firsthand in regulated industries.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7818120" y="2162556"/>
            <a:ext cx="114300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046720" y="2621585"/>
            <a:ext cx="3467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Customer Development: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Hands-on founder sales to validate MVP and secure early pilot partners.</a:t>
            </a:r>
            <a:endParaRPr lang="en-US" sz="10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7818120" y="2649931"/>
            <a:ext cx="114300" cy="13350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046720" y="3108960"/>
            <a:ext cx="3467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Fast Iteration: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Agile development cycles focused on rapid feedback from beachhead customers.</a:t>
            </a:r>
            <a:endParaRPr lang="en-US" sz="10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7818120" y="3137306"/>
            <a:ext cx="114300" cy="133502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-10" b="-10"/>
          <a:stretch/>
        </p:blipFill>
        <p:spPr>
          <a:xfrm>
            <a:off x="7589520" y="3977640"/>
            <a:ext cx="4030675" cy="26673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132674" y="4167835"/>
            <a:ext cx="3419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Current Advisory Needs </a:t>
            </a:r>
            <a:endParaRPr lang="en-US" sz="13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0"/>
          <a:srcRect l="-1064" r="-1064" t="0" b="0"/>
          <a:stretch/>
        </p:blipFill>
        <p:spPr>
          <a:xfrm>
            <a:off x="7818120" y="4210812"/>
            <a:ext cx="219456" cy="171907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7818120" y="4567428"/>
            <a:ext cx="3619195" cy="552298"/>
          </a:xfrm>
          <a:prstGeom prst="roundRect">
            <a:avLst>
              <a:gd name="adj" fmla="val 4567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2" name="Shape 11"/>
          <p:cNvSpPr/>
          <p:nvPr/>
        </p:nvSpPr>
        <p:spPr>
          <a:xfrm>
            <a:off x="7970825" y="4691786"/>
            <a:ext cx="304495" cy="304495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55864" y="4777740"/>
            <a:ext cx="133502" cy="133502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8389620" y="4743907"/>
            <a:ext cx="20519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Enterprise SaaS Sales Coach</a:t>
            </a:r>
            <a:endParaRPr lang="en-US" sz="1000" dirty="0"/>
          </a:p>
        </p:txBody>
      </p:sp>
      <p:sp>
        <p:nvSpPr>
          <p:cNvPr id="25" name="Shape 13"/>
          <p:cNvSpPr/>
          <p:nvPr/>
        </p:nvSpPr>
        <p:spPr>
          <a:xfrm>
            <a:off x="7818120" y="5234940"/>
            <a:ext cx="3619195" cy="552298"/>
          </a:xfrm>
          <a:prstGeom prst="roundRect">
            <a:avLst>
              <a:gd name="adj" fmla="val 4567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7970825" y="5358384"/>
            <a:ext cx="304495" cy="304495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2"/>
          <a:srcRect l="-2512" r="-2512" t="0" b="0"/>
          <a:stretch/>
        </p:blipFill>
        <p:spPr>
          <a:xfrm>
            <a:off x="8070494" y="5444338"/>
            <a:ext cx="105156" cy="133502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8389620" y="5410505"/>
            <a:ext cx="1700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FedRAMP / 3PAO Expert</a:t>
            </a:r>
            <a:endParaRPr lang="en-US" sz="1000" dirty="0"/>
          </a:p>
        </p:txBody>
      </p:sp>
      <p:sp>
        <p:nvSpPr>
          <p:cNvPr id="29" name="Shape 16"/>
          <p:cNvSpPr/>
          <p:nvPr/>
        </p:nvSpPr>
        <p:spPr>
          <a:xfrm>
            <a:off x="7818120" y="5901538"/>
            <a:ext cx="3619195" cy="552298"/>
          </a:xfrm>
          <a:prstGeom prst="roundRect">
            <a:avLst>
              <a:gd name="adj" fmla="val 4567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0" name="Shape 17"/>
          <p:cNvSpPr/>
          <p:nvPr/>
        </p:nvSpPr>
        <p:spPr>
          <a:xfrm>
            <a:off x="7970825" y="6024982"/>
            <a:ext cx="304495" cy="304495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3"/>
          <a:srcRect l="-837" r="-837" t="0" b="0"/>
          <a:stretch/>
        </p:blipFill>
        <p:spPr>
          <a:xfrm>
            <a:off x="8046720" y="6110935"/>
            <a:ext cx="152705" cy="13350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8389620" y="6077102"/>
            <a:ext cx="20976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Series A Fundraising Strategy</a:t>
            </a:r>
            <a:endParaRPr lang="en-US" sz="1000" dirty="0"/>
          </a:p>
        </p:txBody>
      </p:sp>
      <p:sp>
        <p:nvSpPr>
          <p:cNvPr id="33" name="Shape 19"/>
          <p:cNvSpPr/>
          <p:nvPr/>
        </p:nvSpPr>
        <p:spPr>
          <a:xfrm>
            <a:off x="571500" y="1543507"/>
            <a:ext cx="6638544" cy="5105095"/>
          </a:xfrm>
          <a:prstGeom prst="roundRect">
            <a:avLst>
              <a:gd name="adj" fmla="val 106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66851" y="1837944"/>
            <a:ext cx="1143000" cy="1143000"/>
          </a:xfrm>
          <a:prstGeom prst="rect">
            <a:avLst/>
          </a:prstGeom>
        </p:spPr>
      </p:pic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5"/>
          <a:srcRect l="-17" r="-17" t="0" b="0"/>
          <a:stretch/>
        </p:blipFill>
        <p:spPr>
          <a:xfrm>
            <a:off x="1271930" y="2219249"/>
            <a:ext cx="333756" cy="381305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2247595" y="1895551"/>
            <a:ext cx="1745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Kiel Green</a:t>
            </a:r>
            <a:endParaRPr lang="en-US" sz="2400" dirty="0"/>
          </a:p>
        </p:txBody>
      </p:sp>
      <p:sp>
        <p:nvSpPr>
          <p:cNvPr id="37" name="Text 21"/>
          <p:cNvSpPr txBox="1"/>
          <p:nvPr/>
        </p:nvSpPr>
        <p:spPr>
          <a:xfrm>
            <a:off x="2247595" y="2400300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Founder &amp; CEO</a:t>
            </a:r>
            <a:endParaRPr lang="en-US" sz="13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6"/>
          <a:srcRect l="-760" r="-760" t="0" b="0"/>
          <a:stretch/>
        </p:blipFill>
        <p:spPr>
          <a:xfrm>
            <a:off x="2247595" y="2752344"/>
            <a:ext cx="152705" cy="171907"/>
          </a:xfrm>
          <a:prstGeom prst="rect">
            <a:avLst/>
          </a:prstGeom>
        </p:spPr>
      </p:pic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542946" y="2752344"/>
            <a:ext cx="171907" cy="171907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866851" y="3219602"/>
            <a:ext cx="61246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Deep domain expertise in regulatory compliance frameworks with a proven track record of leading security initiatives. Combining technical cloud security knowledge with strategic compliance leadership to solve the manual audit burden.</a:t>
            </a:r>
            <a:endParaRPr lang="en-US" sz="1100" dirty="0"/>
          </a:p>
        </p:txBody>
      </p:sp>
      <p:sp>
        <p:nvSpPr>
          <p:cNvPr id="41" name="Shape 23"/>
          <p:cNvSpPr/>
          <p:nvPr/>
        </p:nvSpPr>
        <p:spPr>
          <a:xfrm>
            <a:off x="866851" y="4120286"/>
            <a:ext cx="2952598" cy="694944"/>
          </a:xfrm>
          <a:prstGeom prst="roundRect">
            <a:avLst>
              <a:gd name="adj" fmla="val 2883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42" name="Shape 24"/>
          <p:cNvSpPr/>
          <p:nvPr/>
        </p:nvSpPr>
        <p:spPr>
          <a:xfrm>
            <a:off x="1019556" y="429676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114654" y="4391863"/>
            <a:ext cx="152705" cy="152705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1476756" y="4272991"/>
            <a:ext cx="16888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Compliance Leadership</a:t>
            </a:r>
            <a:endParaRPr lang="en-US" sz="1000" dirty="0"/>
          </a:p>
        </p:txBody>
      </p:sp>
      <p:sp>
        <p:nvSpPr>
          <p:cNvPr id="45" name="Text 26"/>
          <p:cNvSpPr txBox="1"/>
          <p:nvPr/>
        </p:nvSpPr>
        <p:spPr>
          <a:xfrm>
            <a:off x="1476756" y="4491533"/>
            <a:ext cx="15663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PCI DSS &amp; HIPAA Expert</a:t>
            </a:r>
            <a:endParaRPr lang="en-US" sz="900" dirty="0"/>
          </a:p>
        </p:txBody>
      </p:sp>
      <p:sp>
        <p:nvSpPr>
          <p:cNvPr id="46" name="Shape 27"/>
          <p:cNvSpPr/>
          <p:nvPr/>
        </p:nvSpPr>
        <p:spPr>
          <a:xfrm>
            <a:off x="3961181" y="4120286"/>
            <a:ext cx="2952598" cy="694944"/>
          </a:xfrm>
          <a:prstGeom prst="roundRect">
            <a:avLst>
              <a:gd name="adj" fmla="val 2883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47" name="Shape 28"/>
          <p:cNvSpPr/>
          <p:nvPr/>
        </p:nvSpPr>
        <p:spPr>
          <a:xfrm>
            <a:off x="4113886" y="429676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9"/>
          <a:srcRect l="0" r="0" t="-180" b="-180"/>
          <a:stretch/>
        </p:blipFill>
        <p:spPr>
          <a:xfrm>
            <a:off x="4189781" y="4391863"/>
            <a:ext cx="190195" cy="152705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4571086" y="4272991"/>
            <a:ext cx="1286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Cloud Security</a:t>
            </a:r>
            <a:endParaRPr lang="en-US" sz="1000" dirty="0"/>
          </a:p>
        </p:txBody>
      </p:sp>
      <p:sp>
        <p:nvSpPr>
          <p:cNvPr id="50" name="Text 30"/>
          <p:cNvSpPr txBox="1"/>
          <p:nvPr/>
        </p:nvSpPr>
        <p:spPr>
          <a:xfrm>
            <a:off x="4571086" y="4491533"/>
            <a:ext cx="14401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AWS/Azure Architecture</a:t>
            </a:r>
            <a:endParaRPr lang="en-US" sz="900" dirty="0"/>
          </a:p>
        </p:txBody>
      </p:sp>
      <p:sp>
        <p:nvSpPr>
          <p:cNvPr id="51" name="Shape 31"/>
          <p:cNvSpPr/>
          <p:nvPr/>
        </p:nvSpPr>
        <p:spPr>
          <a:xfrm>
            <a:off x="866851" y="4958791"/>
            <a:ext cx="2952598" cy="694944"/>
          </a:xfrm>
          <a:prstGeom prst="roundRect">
            <a:avLst>
              <a:gd name="adj" fmla="val 2883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2" name="Shape 32"/>
          <p:cNvSpPr/>
          <p:nvPr/>
        </p:nvSpPr>
        <p:spPr>
          <a:xfrm>
            <a:off x="1019556" y="513435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1114654" y="5229454"/>
            <a:ext cx="152705" cy="152705"/>
          </a:xfrm>
          <a:prstGeom prst="rect">
            <a:avLst/>
          </a:prstGeom>
        </p:spPr>
      </p:pic>
      <p:sp>
        <p:nvSpPr>
          <p:cNvPr id="54" name="Text 33"/>
          <p:cNvSpPr txBox="1"/>
          <p:nvPr/>
        </p:nvSpPr>
        <p:spPr>
          <a:xfrm>
            <a:off x="1476756" y="5110582"/>
            <a:ext cx="14584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Founder-Led Sales</a:t>
            </a:r>
            <a:endParaRPr lang="en-US" sz="1000" dirty="0"/>
          </a:p>
        </p:txBody>
      </p:sp>
      <p:sp>
        <p:nvSpPr>
          <p:cNvPr id="55" name="Text 34"/>
          <p:cNvSpPr txBox="1"/>
          <p:nvPr/>
        </p:nvSpPr>
        <p:spPr>
          <a:xfrm>
            <a:off x="1476756" y="5330038"/>
            <a:ext cx="15764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High-Touch GTM Strategy</a:t>
            </a:r>
            <a:endParaRPr lang="en-US" sz="900" dirty="0"/>
          </a:p>
        </p:txBody>
      </p:sp>
      <p:sp>
        <p:nvSpPr>
          <p:cNvPr id="56" name="Shape 35"/>
          <p:cNvSpPr/>
          <p:nvPr/>
        </p:nvSpPr>
        <p:spPr>
          <a:xfrm>
            <a:off x="3961181" y="4958791"/>
            <a:ext cx="2952598" cy="694944"/>
          </a:xfrm>
          <a:prstGeom prst="roundRect">
            <a:avLst>
              <a:gd name="adj" fmla="val 2883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7" name="Shape 36"/>
          <p:cNvSpPr/>
          <p:nvPr/>
        </p:nvSpPr>
        <p:spPr>
          <a:xfrm>
            <a:off x="4113886" y="513435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1"/>
          <a:srcRect l="0" r="0" t="-180" b="-180"/>
          <a:stretch/>
        </p:blipFill>
        <p:spPr>
          <a:xfrm>
            <a:off x="4189781" y="5229454"/>
            <a:ext cx="190195" cy="152705"/>
          </a:xfrm>
          <a:prstGeom prst="rect">
            <a:avLst/>
          </a:prstGeom>
        </p:spPr>
      </p:pic>
      <p:sp>
        <p:nvSpPr>
          <p:cNvPr id="59" name="Text 37"/>
          <p:cNvSpPr txBox="1"/>
          <p:nvPr/>
        </p:nvSpPr>
        <p:spPr>
          <a:xfrm>
            <a:off x="4571086" y="5110582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Technical Product</a:t>
            </a:r>
            <a:endParaRPr lang="en-US" sz="1000" dirty="0"/>
          </a:p>
        </p:txBody>
      </p:sp>
      <p:sp>
        <p:nvSpPr>
          <p:cNvPr id="60" name="Text 38"/>
          <p:cNvSpPr txBox="1"/>
          <p:nvPr/>
        </p:nvSpPr>
        <p:spPr>
          <a:xfrm>
            <a:off x="4571086" y="5330038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AI-Native Vision</a:t>
            </a:r>
            <a:endParaRPr lang="en-US" sz="900" dirty="0"/>
          </a:p>
        </p:txBody>
      </p:sp>
      <p:sp>
        <p:nvSpPr>
          <p:cNvPr id="61" name="Shape 39"/>
          <p:cNvSpPr/>
          <p:nvPr/>
        </p:nvSpPr>
        <p:spPr>
          <a:xfrm>
            <a:off x="866851" y="5891479"/>
            <a:ext cx="6048756" cy="457200"/>
          </a:xfrm>
          <a:prstGeom prst="roundRect">
            <a:avLst>
              <a:gd name="adj" fmla="val 66667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0"/>
          <p:cNvSpPr txBox="1"/>
          <p:nvPr/>
        </p:nvSpPr>
        <p:spPr>
          <a:xfrm>
            <a:off x="1057046" y="6020410"/>
            <a:ext cx="2018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Contact for Investor Inquiries:</a:t>
            </a:r>
            <a:endParaRPr lang="en-US" sz="1000" dirty="0"/>
          </a:p>
        </p:txBody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4610405" y="6044184"/>
            <a:ext cx="152705" cy="152705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4839005" y="6005779"/>
            <a:ext cx="2244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k.green@evolveedgeai.com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752551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Join Us in Transforming Compliance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71500" y="381305"/>
            <a:ext cx="1686154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" y="381305"/>
            <a:ext cx="1753819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1500" y="1591056"/>
            <a:ext cx="4895698" cy="1200607"/>
          </a:xfrm>
          <a:prstGeom prst="roundRect">
            <a:avLst>
              <a:gd name="adj" fmla="val 1934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591056"/>
            <a:ext cx="38405" cy="1200607"/>
          </a:xfrm>
          <a:prstGeom prst="roundRect">
            <a:avLst>
              <a:gd name="adj" fmla="val 60468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7649" y="1837944"/>
            <a:ext cx="3876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$482K - $700K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47649" y="2343607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75" kern="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Pre-Seed Raise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9801" y="2024482"/>
            <a:ext cx="866851" cy="333756"/>
          </a:xfrm>
          <a:prstGeom prst="roundRect">
            <a:avLst>
              <a:gd name="adj" fmla="val 93933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49801" y="2024482"/>
            <a:ext cx="9244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SAFE Note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2980944"/>
            <a:ext cx="4895698" cy="4743907"/>
          </a:xfrm>
          <a:prstGeom prst="roundRect">
            <a:avLst>
              <a:gd name="adj" fmla="val 123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7961" y="3181198"/>
            <a:ext cx="43241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Use of Funds 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842" b="-842"/>
          <a:stretch/>
        </p:blipFill>
        <p:spPr>
          <a:xfrm>
            <a:off x="771754" y="3224174"/>
            <a:ext cx="190195" cy="1719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71754" y="5820156"/>
            <a:ext cx="4496105" cy="495605"/>
          </a:xfrm>
          <a:prstGeom prst="roundRect">
            <a:avLst>
              <a:gd name="adj" fmla="val 5677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86054" y="5939028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5451" y="5896051"/>
            <a:ext cx="19504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Product Development (56%)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95451" y="6077102"/>
            <a:ext cx="19504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AI engine, Integrations, Frameworks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4539082" y="5964631"/>
            <a:ext cx="695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$269,920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71754" y="6424574"/>
            <a:ext cx="4496105" cy="495605"/>
          </a:xfrm>
          <a:prstGeom prst="roundRect">
            <a:avLst>
              <a:gd name="adj" fmla="val 5677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86054" y="6543446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95451" y="6500470"/>
            <a:ext cx="2232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Operations &amp; Compliance (30%)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095451" y="6681521"/>
            <a:ext cx="2024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Infrastructure, Legal, Security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4545482" y="6569964"/>
            <a:ext cx="685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$144,600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71754" y="7029907"/>
            <a:ext cx="4496105" cy="495605"/>
          </a:xfrm>
          <a:prstGeom prst="roundRect">
            <a:avLst>
              <a:gd name="adj" fmla="val 5677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86054" y="7148779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95451" y="7105802"/>
            <a:ext cx="1666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Sales &amp; Marketing (14%)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5451" y="7286854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GTM, Content, Outreach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4633265" y="7174382"/>
            <a:ext cx="600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$67,480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749747" y="1591056"/>
            <a:ext cx="5876849" cy="3524098"/>
          </a:xfrm>
          <a:prstGeom prst="roundRect">
            <a:avLst>
              <a:gd name="adj" fmla="val 224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245352" y="1837944"/>
            <a:ext cx="52486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Key Milestones </a:t>
            </a:r>
            <a:endParaRPr lang="en-US" sz="13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5997550" y="1880921"/>
            <a:ext cx="152705" cy="171907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749747" y="5302606"/>
            <a:ext cx="5876849" cy="2419502"/>
          </a:xfrm>
          <a:prstGeom prst="roundRect">
            <a:avLst>
              <a:gd name="adj" fmla="val 4761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997550" y="5924398"/>
            <a:ext cx="54964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Series A Potential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5997550" y="6219749"/>
            <a:ext cx="549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$20M - $40M Valuation</a:t>
            </a:r>
            <a:endParaRPr lang="en-US" sz="2400" dirty="0"/>
          </a:p>
        </p:txBody>
      </p:sp>
      <p:sp>
        <p:nvSpPr>
          <p:cNvPr id="37" name="Text 32"/>
          <p:cNvSpPr txBox="1"/>
          <p:nvPr/>
        </p:nvSpPr>
        <p:spPr>
          <a:xfrm>
            <a:off x="5997550" y="6724498"/>
            <a:ext cx="54580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Positioned for high-multiple Series A based on $5M+ ARR trajectory and AI-native differentiation vs legacy players.</a:t>
            </a:r>
            <a:endParaRPr lang="en-US" sz="10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rcRect l="-102" r="-102" t="0" b="0"/>
          <a:stretch/>
        </p:blipFill>
        <p:spPr>
          <a:xfrm>
            <a:off x="771754" y="3581705"/>
            <a:ext cx="4496105" cy="2095805"/>
          </a:xfrm>
          <a:prstGeom prst="rect">
            <a:avLst/>
          </a:prstGeom>
        </p:spPr>
      </p:pic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6140196" y="2381098"/>
            <a:ext cx="19202" cy="2057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5997550" y="2286000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2647" y="2381098"/>
            <a:ext cx="114300" cy="1143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444691" y="2286000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Launch Commercial Platform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6444691" y="2519172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Complete MVP with HIPAA &amp; PCI DSS support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5997550" y="289590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6078017" y="2991002"/>
            <a:ext cx="142646" cy="1143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444691" y="2895905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Acquire First 10 Customers</a:t>
            </a:r>
            <a:endParaRPr lang="en-US" sz="1100" dirty="0"/>
          </a:p>
        </p:txBody>
      </p:sp>
      <p:sp>
        <p:nvSpPr>
          <p:cNvPr id="47" name="Text 38"/>
          <p:cNvSpPr txBox="1"/>
          <p:nvPr/>
        </p:nvSpPr>
        <p:spPr>
          <a:xfrm>
            <a:off x="6444691" y="3129077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Validate product-market fit with paying users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5997550" y="35048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92647" y="3600907"/>
            <a:ext cx="114300" cy="1143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444691" y="3504895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Reach Profitability (Month 12)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6444691" y="3738982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Achieve break-even &amp; $8M SOM target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5997550" y="4114800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6078017" y="4209898"/>
            <a:ext cx="142646" cy="1143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444691" y="4114800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Scale Technology</a:t>
            </a:r>
            <a:endParaRPr lang="en-US" sz="1100" dirty="0"/>
          </a:p>
        </p:txBody>
      </p:sp>
      <p:sp>
        <p:nvSpPr>
          <p:cNvPr id="55" name="Text 44"/>
          <p:cNvSpPr txBox="1"/>
          <p:nvPr/>
        </p:nvSpPr>
        <p:spPr>
          <a:xfrm>
            <a:off x="6444691" y="4347972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Release SOC 2, Azure integration &amp; AI Copilot Beta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-381305"/>
            <a:ext cx="7619695" cy="76196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81305" y="381305"/>
            <a:ext cx="952805" cy="1920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81305" y="381305"/>
            <a:ext cx="19202" cy="952805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858500" y="6457493"/>
            <a:ext cx="952805" cy="1920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792102" y="5524805"/>
            <a:ext cx="19202" cy="952805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431390" y="761695"/>
            <a:ext cx="7334402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to Make Compliance a</a:t>
            </a:r>
            <a:pPr algn="ctr" indent="0" marL="0">
              <a:buNone/>
            </a:pPr>
            <a:endParaRPr lang="en-US" sz="4200" dirty="0"/>
          </a:p>
          <a:p>
            <a:pPr algn="ctr" indent="0" marL="0">
              <a:buNone/>
            </a:pPr>
            <a:r>
              <a:rPr lang="en-US" sz="4200" b="1" spc="-75" kern="0" dirty="0">
                <a:solidFill>
                  <a:srgbClr val="256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Competitive Advantage?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2174443" y="2125980"/>
            <a:ext cx="78492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future of compliance is continuous, automated, and AI-native.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238098" y="2826410"/>
            <a:ext cx="3047695" cy="2343607"/>
          </a:xfrm>
          <a:prstGeom prst="roundRect">
            <a:avLst>
              <a:gd name="adj" fmla="val 507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38098" y="2826410"/>
            <a:ext cx="3029407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76195" y="3121762"/>
            <a:ext cx="571500" cy="5715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09698" y="3255264"/>
            <a:ext cx="304495" cy="3044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5646" y="3836822"/>
            <a:ext cx="295442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$1.3B → $2.9B</a:t>
            </a:r>
            <a:endParaRPr lang="en-US" sz="2700" dirty="0"/>
          </a:p>
        </p:txBody>
      </p:sp>
      <p:sp>
        <p:nvSpPr>
          <p:cNvPr id="16" name="Text 11"/>
          <p:cNvSpPr txBox="1"/>
          <p:nvPr/>
        </p:nvSpPr>
        <p:spPr>
          <a:xfrm>
            <a:off x="1495044" y="4445813"/>
            <a:ext cx="2533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Massive market growth projected by 2030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0" y="2826410"/>
            <a:ext cx="3047695" cy="2343607"/>
          </a:xfrm>
          <a:prstGeom prst="roundRect">
            <a:avLst>
              <a:gd name="adj" fmla="val 507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72000" y="2826410"/>
            <a:ext cx="3029407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10098" y="3121762"/>
            <a:ext cx="571500" cy="5715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rcRect l="-107" r="-107" t="0" b="0"/>
          <a:stretch/>
        </p:blipFill>
        <p:spPr>
          <a:xfrm>
            <a:off x="5962802" y="3255264"/>
            <a:ext cx="26700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16245" y="3836822"/>
            <a:ext cx="9628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85%+</a:t>
            </a:r>
            <a:endParaRPr lang="en-US" sz="2700" dirty="0"/>
          </a:p>
        </p:txBody>
      </p:sp>
      <p:sp>
        <p:nvSpPr>
          <p:cNvPr id="22" name="Text 16"/>
          <p:cNvSpPr txBox="1"/>
          <p:nvPr/>
        </p:nvSpPr>
        <p:spPr>
          <a:xfrm>
            <a:off x="4828946" y="4445813"/>
            <a:ext cx="2533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Workload reduction for every customer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905902" y="2826410"/>
            <a:ext cx="3047695" cy="2343607"/>
          </a:xfrm>
          <a:prstGeom prst="roundRect">
            <a:avLst>
              <a:gd name="adj" fmla="val 507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905902" y="2826410"/>
            <a:ext cx="3029407" cy="38405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44000" y="3121762"/>
            <a:ext cx="571500" cy="5715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9258300" y="3255264"/>
            <a:ext cx="342900" cy="3044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56194" y="3836822"/>
            <a:ext cx="295442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$150K - $500K</a:t>
            </a:r>
            <a:endParaRPr lang="en-US" sz="2700" dirty="0"/>
          </a:p>
        </p:txBody>
      </p:sp>
      <p:sp>
        <p:nvSpPr>
          <p:cNvPr id="28" name="Text 21"/>
          <p:cNvSpPr txBox="1"/>
          <p:nvPr/>
        </p:nvSpPr>
        <p:spPr>
          <a:xfrm>
            <a:off x="8162849" y="4445813"/>
            <a:ext cx="2533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Saved annually vs traditional compliance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61695" y="5644591"/>
            <a:ext cx="10668305" cy="1209751"/>
          </a:xfrm>
          <a:prstGeom prst="roundRect">
            <a:avLst>
              <a:gd name="adj" fmla="val 23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152144" y="5944514"/>
            <a:ext cx="609905" cy="6099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23798" y="5944514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KG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952244" y="5939942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Kiel Green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1952244" y="6330391"/>
            <a:ext cx="1233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Founder &amp; CEO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rcRect l="-5319" r="-5319" t="0" b="0"/>
          <a:stretch/>
        </p:blipFill>
        <p:spPr>
          <a:xfrm>
            <a:off x="3537814" y="5987491"/>
            <a:ext cx="190195" cy="17190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646627" y="5944514"/>
            <a:ext cx="24597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k.green@evolveedgeai.com</a:t>
            </a:r>
            <a:endParaRPr lang="en-US" sz="13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rcRect l="-5319" r="-5319" t="0" b="0"/>
          <a:stretch/>
        </p:blipFill>
        <p:spPr>
          <a:xfrm>
            <a:off x="3537814" y="6339535"/>
            <a:ext cx="190195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712464" y="6296558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evolveedgeai.com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663233" y="5968289"/>
            <a:ext cx="38487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Schedule a Demo | Request Investor Materials</a:t>
            </a:r>
            <a:endParaRPr lang="en-US" sz="13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/>
          <a:srcRect l="-760" r="-760" t="0" b="0"/>
          <a:stretch/>
        </p:blipFill>
        <p:spPr>
          <a:xfrm>
            <a:off x="10582351" y="6163970"/>
            <a:ext cx="152705" cy="1719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2026-03-19T14:16:08Z</dcterms:created>
  <dcterms:modified xsi:type="dcterms:W3CDTF">2026-03-19T14:16:08Z</dcterms:modified>
</cp:coreProperties>
</file>